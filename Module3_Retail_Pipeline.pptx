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Measured quality findings (rows)</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1C7C7D"/>
            </a:solidFill>
            <a:effectLst/>
          </c:spPr>
          <c:invertIfNegative val="0"/>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1C7C7D"/>
              </a:solidFill>
              <a:effectLst/>
            </c:spPr>
          </c:dPt>
          <c:dPt>
            <c:idx val="1"/>
            <c:invertIfNegative val="0"/>
            <c:bubble3D val="0"/>
            <c:spPr>
              <a:solidFill>
                <a:srgbClr val="1C7C7D"/>
              </a:solidFill>
              <a:effectLst/>
            </c:spPr>
          </c:dPt>
          <c:dPt>
            <c:idx val="2"/>
            <c:invertIfNegative val="0"/>
            <c:bubble3D val="0"/>
            <c:spPr>
              <a:solidFill>
                <a:srgbClr val="1C7C7D"/>
              </a:solidFill>
              <a:effectLst/>
            </c:spPr>
          </c:dPt>
          <c:dPt>
            <c:idx val="3"/>
            <c:invertIfNegative val="0"/>
            <c:bubble3D val="0"/>
            <c:spPr>
              <a:solidFill>
                <a:srgbClr val="F2A541"/>
              </a:solidFill>
              <a:effectLst/>
            </c:spPr>
          </c:dPt>
          <c:dPt>
            <c:idx val="4"/>
            <c:invertIfNegative val="0"/>
            <c:bubble3D val="0"/>
            <c:spPr>
              <a:solidFill>
                <a:srgbClr val="1C7C7D"/>
              </a:solidFill>
              <a:effectLst/>
            </c:spPr>
          </c:dPt>
          <c:dPt>
            <c:idx val="5"/>
            <c:invertIfNegative val="0"/>
            <c:bubble3D val="0"/>
            <c:spPr>
              <a:solidFill>
                <a:srgbClr val="1C7C7D"/>
              </a:solidFill>
              <a:effectLst/>
            </c:spPr>
          </c:dPt>
          <c:dPt>
            <c:idx val="6"/>
            <c:invertIfNegative val="0"/>
            <c:bubble3D val="0"/>
            <c:spPr>
              <a:solidFill>
                <a:srgbClr val="1C7C7D"/>
              </a:solidFill>
              <a:effectLst/>
            </c:spPr>
          </c:dPt>
          <c:cat>
            <c:multiLvlStrRef>
              <c:f>Sheet1!$A$2:$A$8</c:f>
              <c:multiLvlStrCache>
                <c:ptCount val="7"/>
                <c:lvl>
                  <c:pt idx="0">
                    <c:v>Missing Customer ID</c:v>
                  </c:pt>
                  <c:pt idx="1">
                    <c:v>Exact duplicate extra copies</c:v>
                  </c:pt>
                  <c:pt idx="2">
                    <c:v>Negative quantity</c:v>
                  </c:pt>
                  <c:pt idx="3">
                    <c:v>Verified overlap duplicates</c:v>
                  </c:pt>
                  <c:pt idx="4">
                    <c:v>Cancellation ('C') lines</c:v>
                  </c:pt>
                  <c:pt idx="5">
                    <c:v>Zero price</c:v>
                  </c:pt>
                  <c:pt idx="6">
                    <c:v>Stock codes off 5-digit pattern</c:v>
                  </c:pt>
                </c:lvl>
              </c:multiLvlStrCache>
            </c:multiLvlStrRef>
          </c:cat>
          <c:val>
            <c:numRef>
              <c:f>Sheet1!$B$2:$B$8</c:f>
              <c:numCache>
                <c:formatCode>General</c:formatCode>
                <c:ptCount val="7"/>
                <c:pt idx="0">
                  <c:v>243007</c:v>
                </c:pt>
                <c:pt idx="1">
                  <c:v>34335</c:v>
                </c:pt>
                <c:pt idx="2">
                  <c:v>22950</c:v>
                </c:pt>
                <c:pt idx="3">
                  <c:v>22523</c:v>
                </c:pt>
                <c:pt idx="4">
                  <c:v>19494</c:v>
                </c:pt>
                <c:pt idx="5">
                  <c:v>6202</c:v>
                </c:pt>
                <c:pt idx="6">
                  <c:v>6094</c:v>
                </c:pt>
              </c:numCache>
            </c:numRef>
          </c:val>
        </c:ser>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30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Rows not retained, by reason code</a:t>
            </a:r>
          </a:p>
        </c:rich>
      </c:tx>
      <c:layout/>
      <c:overlay val="0"/>
    </c:title>
    <c:autoTitleDeleted val="0"/>
    <c:plotArea>
      <c:layout/>
      <c:barChart>
        <c:barDir val="bar"/>
        <c:grouping val="clustered"/>
        <c:varyColors val="0"/>
        <c:ser>
          <c:idx val="0"/>
          <c:order val="0"/>
          <c:tx>
            <c:strRef>
              <c:f>Sheet1!$B$1</c:f>
              <c:strCache>
                <c:ptCount val="1"/>
                <c:pt idx="0">
                  <c:v>Rows</c:v>
                </c:pt>
              </c:strCache>
            </c:strRef>
          </c:tx>
          <c:spPr>
            <a:solidFill>
              <a:srgbClr val="F2A541"/>
            </a:solidFill>
            <a:effectLst/>
          </c:spPr>
          <c:invertIfNegative val="0"/>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F2A541"/>
              </a:solidFill>
              <a:effectLst/>
            </c:spPr>
          </c:dPt>
          <c:dPt>
            <c:idx val="2"/>
            <c:invertIfNegative val="0"/>
            <c:bubble3D val="0"/>
            <c:spPr>
              <a:solidFill>
                <a:srgbClr val="D95D39"/>
              </a:solidFill>
              <a:effectLst/>
            </c:spPr>
          </c:dPt>
          <c:dPt>
            <c:idx val="3"/>
            <c:invertIfNegative val="0"/>
            <c:bubble3D val="0"/>
            <c:spPr>
              <a:solidFill>
                <a:srgbClr val="D95D39"/>
              </a:solidFill>
              <a:effectLst/>
            </c:spPr>
          </c:dPt>
          <c:cat>
            <c:multiLvlStrRef>
              <c:f>Sheet1!$A$2:$A$5</c:f>
              <c:multiLvlStrCache>
                <c:ptCount val="4"/>
                <c:lvl>
                  <c:pt idx="0">
                    <c:v>Overlap duplicates (excluded)</c:v>
                  </c:pt>
                  <c:pt idx="1">
                    <c:v>Non-merchandise lines (excluded)</c:v>
                  </c:pt>
                  <c:pt idx="2">
                    <c:v>Stock adjustments (quarantined)</c:v>
                  </c:pt>
                  <c:pt idx="3">
                    <c:v>Zero price (quarantined)</c:v>
                  </c:pt>
                </c:lvl>
              </c:multiLvlStrCache>
            </c:multiLvlStrRef>
          </c:cat>
          <c:val>
            <c:numRef>
              <c:f>Sheet1!$B$2:$B$5</c:f>
              <c:numCache>
                <c:formatCode>General</c:formatCode>
                <c:ptCount val="4"/>
                <c:pt idx="0">
                  <c:v>22523</c:v>
                </c:pt>
                <c:pt idx="1">
                  <c:v>5813</c:v>
                </c:pt>
                <c:pt idx="2">
                  <c:v>3391</c:v>
                </c:pt>
                <c:pt idx="3">
                  <c:v>2582</c:v>
                </c:pt>
              </c:numCache>
            </c:numRef>
          </c:val>
        </c:ser>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3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Critical failures per validation run</a:t>
            </a:r>
          </a:p>
        </c:rich>
      </c:tx>
      <c:layout/>
      <c:overlay val="0"/>
    </c:title>
    <c:autoTitleDeleted val="0"/>
    <c:plotArea>
      <c:layout/>
      <c:barChart>
        <c:barDir val="col"/>
        <c:grouping val="clustered"/>
        <c:varyColors val="0"/>
        <c:ser>
          <c:idx val="0"/>
          <c:order val="0"/>
          <c:tx>
            <c:strRef>
              <c:f>Sheet1!$B$1</c:f>
              <c:strCache>
                <c:ptCount val="1"/>
                <c:pt idx="0">
                  <c:v>Critical failures</c:v>
                </c:pt>
              </c:strCache>
            </c:strRef>
          </c:tx>
          <c:spPr>
            <a:solidFill>
              <a:srgbClr val="2E8B57"/>
            </a:solidFill>
            <a:effectLst/>
          </c:spPr>
          <c:invertIfNegative val="0"/>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2E8B57"/>
              </a:solidFill>
              <a:effectLst/>
            </c:spPr>
          </c:dPt>
          <c:dPt>
            <c:idx val="1"/>
            <c:invertIfNegative val="0"/>
            <c:bubble3D val="0"/>
            <c:spPr>
              <a:solidFill>
                <a:srgbClr val="D95D39"/>
              </a:solidFill>
              <a:effectLst/>
            </c:spPr>
          </c:dPt>
          <c:cat>
            <c:multiLvlStrRef>
              <c:f>Sheet1!$A$2:$A$3</c:f>
              <c:multiLvlStrCache>
                <c:ptCount val="2"/>
                <c:lvl>
                  <c:pt idx="0">
                    <c:v>Real data run</c:v>
                  </c:pt>
                  <c:pt idx="1">
                    <c:v>Injected-fault fixture</c:v>
                  </c:pt>
                </c:lvl>
              </c:multiLvlStrCache>
            </c:multiLvlStrRef>
          </c:cat>
          <c:val>
            <c:numRef>
              <c:f>Sheet1!$B$2:$B$3</c:f>
              <c:numCache>
                <c:formatCode>General</c:formatCode>
                <c:ptCount val="2"/>
                <c:pt idx="0">
                  <c:v>0</c:v>
                </c:pt>
                <c:pt idx="1">
                  <c:v>7</c:v>
                </c:pt>
              </c:numCache>
            </c:numRef>
          </c:val>
        </c:ser>
        <c:dLbls>
          <c:numFmt formatCode="#,##0"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Share of retained lines by country (top 6 of 43)</a:t>
            </a:r>
          </a:p>
        </c:rich>
      </c:tx>
      <c:layout/>
      <c:overlay val="0"/>
    </c:title>
    <c:autoTitleDeleted val="0"/>
    <c:plotArea>
      <c:layout/>
      <c:barChart>
        <c:barDir val="col"/>
        <c:grouping val="clustered"/>
        <c:varyColors val="0"/>
        <c:ser>
          <c:idx val="0"/>
          <c:order val="0"/>
          <c:tx>
            <c:strRef>
              <c:f>Sheet1!$B$1</c:f>
              <c:strCache>
                <c:ptCount val="1"/>
                <c:pt idx="0">
                  <c:v>Share of lines</c:v>
                </c:pt>
              </c:strCache>
            </c:strRef>
          </c:tx>
          <c:spPr>
            <a:solidFill>
              <a:srgbClr val="F2A541"/>
            </a:solidFill>
            <a:effectLst/>
          </c:spPr>
          <c:invertIfNegative val="0"/>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F2A541"/>
              </a:solidFill>
              <a:effectLst/>
            </c:spPr>
          </c:dPt>
          <c:dPt>
            <c:idx val="1"/>
            <c:invertIfNegative val="0"/>
            <c:bubble3D val="0"/>
            <c:spPr>
              <a:solidFill>
                <a:srgbClr val="1C7C7D"/>
              </a:solidFill>
              <a:effectLst/>
            </c:spPr>
          </c:dPt>
          <c:dPt>
            <c:idx val="2"/>
            <c:invertIfNegative val="0"/>
            <c:bubble3D val="0"/>
            <c:spPr>
              <a:solidFill>
                <a:srgbClr val="1C7C7D"/>
              </a:solidFill>
              <a:effectLst/>
            </c:spPr>
          </c:dPt>
          <c:dPt>
            <c:idx val="3"/>
            <c:invertIfNegative val="0"/>
            <c:bubble3D val="0"/>
            <c:spPr>
              <a:solidFill>
                <a:srgbClr val="1C7C7D"/>
              </a:solidFill>
              <a:effectLst/>
            </c:spPr>
          </c:dPt>
          <c:dPt>
            <c:idx val="4"/>
            <c:invertIfNegative val="0"/>
            <c:bubble3D val="0"/>
            <c:spPr>
              <a:solidFill>
                <a:srgbClr val="1C7C7D"/>
              </a:solidFill>
              <a:effectLst/>
            </c:spPr>
          </c:dPt>
          <c:dPt>
            <c:idx val="5"/>
            <c:invertIfNegative val="0"/>
            <c:bubble3D val="0"/>
            <c:spPr>
              <a:solidFill>
                <a:srgbClr val="1C7C7D"/>
              </a:solidFill>
              <a:effectLst/>
            </c:spPr>
          </c:dPt>
          <c:cat>
            <c:multiLvlStrRef>
              <c:f>Sheet1!$A$2:$A$7</c:f>
              <c:multiLvlStrCache>
                <c:ptCount val="6"/>
                <c:lvl>
                  <c:pt idx="0">
                    <c:v>United Kingdom</c:v>
                  </c:pt>
                  <c:pt idx="1">
                    <c:v>EIRE</c:v>
                  </c:pt>
                  <c:pt idx="2">
                    <c:v>Germany</c:v>
                  </c:pt>
                  <c:pt idx="3">
                    <c:v>France</c:v>
                  </c:pt>
                  <c:pt idx="4">
                    <c:v>Netherlands</c:v>
                  </c:pt>
                  <c:pt idx="5">
                    <c:v>Spain</c:v>
                  </c:pt>
                </c:lvl>
              </c:multiLvlStrCache>
            </c:multiLvlStrRef>
          </c:cat>
          <c:val>
            <c:numRef>
              <c:f>Sheet1!$B$2:$B$7</c:f>
              <c:numCache>
                <c:formatCode>General</c:formatCode>
                <c:ptCount val="6"/>
                <c:pt idx="0">
                  <c:v>92.01</c:v>
                </c:pt>
                <c:pt idx="1">
                  <c:v>1.68</c:v>
                </c:pt>
                <c:pt idx="2">
                  <c:v>1.61</c:v>
                </c:pt>
                <c:pt idx="3">
                  <c:v>1.31</c:v>
                </c:pt>
                <c:pt idx="4">
                  <c:v>0.49</c:v>
                </c:pt>
                <c:pt idx="5">
                  <c:v>0.35</c:v>
                </c:pt>
              </c:numCache>
            </c:numRef>
          </c:val>
        </c:ser>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38"/>
                </a:solidFill>
                <a:latin typeface="Calibri"/>
              </a:defRPr>
            </a:pPr>
            <a:r>
              <a:rPr sz="1200" b="0" i="0" u="none" strike="noStrike">
                <a:solidFill>
                  <a:srgbClr val="1B2A38"/>
                </a:solidFill>
                <a:latin typeface="Calibri"/>
              </a:rPr>
              <a:t>Flagged cancellation rates (invoices)</a:t>
            </a:r>
          </a:p>
        </c:rich>
      </c:tx>
      <c:layout/>
      <c:overlay val="0"/>
    </c:title>
    <c:autoTitleDeleted val="0"/>
    <c:plotArea>
      <c:layout/>
      <c:barChart>
        <c:barDir val="col"/>
        <c:grouping val="clustered"/>
        <c:varyColors val="0"/>
        <c:ser>
          <c:idx val="0"/>
          <c:order val="0"/>
          <c:tx>
            <c:strRef>
              <c:f>Sheet1!$B$1</c:f>
              <c:strCache>
                <c:ptCount val="1"/>
                <c:pt idx="0">
                  <c:v>Cancellation rate</c:v>
                </c:pt>
              </c:strCache>
            </c:strRef>
          </c:tx>
          <c:spPr>
            <a:solidFill>
              <a:srgbClr val="D95D39"/>
            </a:solidFill>
            <a:effectLst/>
          </c:spPr>
          <c:invertIfNegative val="0"/>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dPt>
            <c:idx val="0"/>
            <c:invertIfNegative val="0"/>
            <c:bubble3D val="0"/>
            <c:spPr>
              <a:solidFill>
                <a:srgbClr val="D95D39"/>
              </a:solidFill>
              <a:effectLst/>
            </c:spPr>
          </c:dPt>
          <c:dPt>
            <c:idx val="1"/>
            <c:invertIfNegative val="0"/>
            <c:bubble3D val="0"/>
            <c:spPr>
              <a:solidFill>
                <a:srgbClr val="D95D39"/>
              </a:solidFill>
              <a:effectLst/>
            </c:spPr>
          </c:dPt>
          <c:dPt>
            <c:idx val="2"/>
            <c:invertIfNegative val="0"/>
            <c:bubble3D val="0"/>
            <c:spPr>
              <a:solidFill>
                <a:srgbClr val="D95D39"/>
              </a:solidFill>
              <a:effectLst/>
            </c:spPr>
          </c:dPt>
          <c:dPt>
            <c:idx val="3"/>
            <c:invertIfNegative val="0"/>
            <c:bubble3D val="0"/>
            <c:spPr>
              <a:solidFill>
                <a:srgbClr val="6C7A89"/>
              </a:solidFill>
              <a:effectLst/>
            </c:spPr>
          </c:dPt>
          <c:dPt>
            <c:idx val="4"/>
            <c:invertIfNegative val="0"/>
            <c:bubble3D val="0"/>
            <c:spPr>
              <a:solidFill>
                <a:srgbClr val="D95D39"/>
              </a:solidFill>
              <a:effectLst/>
            </c:spPr>
          </c:dPt>
          <c:cat>
            <c:multiLvlStrRef>
              <c:f>Sheet1!$A$2:$A$6</c:f>
              <c:multiLvlStrCache>
                <c:ptCount val="5"/>
                <c:lvl>
                  <c:pt idx="0">
                    <c:v>Germany</c:v>
                  </c:pt>
                  <c:pt idx="1">
                    <c:v>Switzerland</c:v>
                  </c:pt>
                  <c:pt idx="2">
                    <c:v>EIRE</c:v>
                  </c:pt>
                  <c:pt idx="3">
                    <c:v>Overall</c:v>
                  </c:pt>
                  <c:pt idx="4">
                    <c:v>Netherlands</c:v>
                  </c:pt>
                </c:lvl>
              </c:multiLvlStrCache>
            </c:multiLvlStrRef>
          </c:cat>
          <c:val>
            <c:numRef>
              <c:f>Sheet1!$B$2:$B$6</c:f>
              <c:numCache>
                <c:formatCode>General</c:formatCode>
                <c:ptCount val="5"/>
                <c:pt idx="0">
                  <c:v>27.3</c:v>
                </c:pt>
                <c:pt idx="1">
                  <c:v>23.4</c:v>
                </c:pt>
                <c:pt idx="2">
                  <c:v>20.1</c:v>
                </c:pt>
                <c:pt idx="3">
                  <c:v>15.8</c:v>
                </c:pt>
                <c:pt idx="4">
                  <c:v>4.9</c:v>
                </c:pt>
              </c:numCache>
            </c:numRef>
          </c:val>
        </c:ser>
        <c:dLbls>
          <c:numFmt formatCode="0.0&quot;%&quot;" sourceLinked="0"/>
          <c:txPr>
            <a:bodyPr/>
            <a:lstStyle/>
            <a:p>
              <a:pPr>
                <a:defRPr b="0" i="0" strike="noStrike" sz="1100" u="none">
                  <a:solidFill>
                    <a:srgbClr val="1B2A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38"/>
                </a:solidFill>
                <a:latin typeface="Calibri"/>
              </a:defRPr>
            </a:pPr>
            <a:endParaRPr lang="en-US"/>
          </a:p>
        </c:txPr>
        <c:crossAx val="2094734552"/>
        <c:crosses val="autoZero"/>
        <c:auto val="1"/>
        <c:lblAlgn val="ctr"/>
        <c:noMultiLvlLbl val="1"/>
      </c:catAx>
      <c:valAx>
        <c:axId val="2094734552"/>
        <c:scaling>
          <c:orientation val="minMax"/>
          <c:max val="3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capstone continues the Retail Analytics Decision Support Platform from Modules 1 and 2 and delivers an executed, reproducible pipeline for the Online Retail II data (Chen, 2019; UCI Machine Learning Repository). All figures in this deck come from the executed run recorded in reports/latest and reports/evidence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Continuity: the business problem, dataset, stakeholders, technology stack and Ethical AI Charter are carried forward unchanged from Modules 1 and 2. Module 2 produced the Azure-based architecture and Data Privacy Plan; Module 3 turns them into running controls. The only change is the orchestration framework: Prefect is used for an executable open-source DAG, with Azure Data Factory remaining the proposed production equivalent. Each stakeholder group on this slide is fed by a specific published table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facts from the supplied file: 1,067,371 data rows and 8 fields, so the 5,000-record requirement is met by actual data and no synthetic records were generated. The source is one CSV; it contains no worksheet names, so the two source blocks were identified from a single backward step in InvoiceDate and then verified by record comparison (slide 5). The source itself never refreshes; the daily schedule shown is a proposal only. The Data Dictionary (docs/data_dictionary.yaml) lists source fields, types, nullability, constraints, sensitivity and derived fields, and a test fails if it disagrees with the real output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is implemented in Prefect, with task dependencies expressed through futures. It follows Sources, ingestion, cleaning, transformation, integration, validation and publication. Amber boxes are gates: the bronze gate stops cleaning, and the output gate plus the PII gate stop publication. The dashed teal boxes are parallel branches for profiling, bias detection, privacy scanning and evidence. Module 2 named Azure Data Factory; it cannot run locally or for free, so Prefect provides the executable DAG while each task maps to an ADF activity. That mapping is a deployment recommendation, not something executed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ran before any cleaning rules were set, on the actual file. Findings: 243,007 rows lack a Customer ID, 34,335 extra exact-duplicate copies exist, 22,950 rows have negative quantity (19,493 on cancellation invoices and 3,457 on non-cancellation invoices), 6,202 rows have zero price and 5 have negative prices. The InvoiceDate column steps backward once (row 525,461). Rather than removing records because of that reset, the two blocks were compared record by record; the 22,523 rows in the overlap window were identical as multisets, so the second copies are treated as confirmed duplicate ingestion. Categories overlap, so the bars should not be added together. Limitation: the CSV has no worksheet names, so the block boundary is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were set after profiling. Precedence is first-match, so retained + quarantined + excluded equals the raw row count exactly (1,067,371 = 1,033,062 + 5,973 + 28,336). Quarantine rows keep a reason code for review. Legitimate returns are not rejected: negative quantity is valid on a cancellation ('C') invoice. Exact duplicates inside one source block could be genuine repeated scans, so they are kept and flagged (11,790 rows) rather than deleted; a configuration switch can drop them. Missing Customer ID is not an error; those sales stay in revenue and product analytics but cannot feed customer-level models. Customer ID is replaced by a keyed pseudonym in this stage (slide 11). The 17,974 figure is the count of retained cancellation lines with negative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one source exists, so no additional sources were invented. Integration here means conforming the cleaned transaction stream into a star-style model: one fact table, three dimensions and three aggregates, each with a documented primary key and grain. Published tables are consumed by the stakeholder groups from slide 2. The weekly SKU table is sparse: weeks without transactions are absent, so the forecasting stage must zero-fill. Full raw-to-output field lineage for every column is in docs/lineage.md, generated from the Data Dictionary.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full runs with the same input, configuration, code and key produced identical content hashes for all seven published tables, and the same build id. The build id changes if the code or rules change, which was observed during development. Failure handling is demonstrated: a critical bronze failure in the integration test stops the run at the cleaning step, writes run_status.json as FAILED and publishes nothing. The pinned dependency set was installed in a fresh virtual environment and the full test suite ran there. Docker and CI: the repository workflow ran on GitHub Actions (run #4, commit dfb67ea, Mon 26 Oct 2026). The test job passed in 1m 7s and the docker job passed in 2m 1s: the Dockerfile built on a clean runner and the test suite passed inside the image. What has not been done is a full-dataset pipeline run inside the container; the full-data runs were executed in a Python virtual environment. Evidence: reports/evidence/ci_run_4.md.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uses Great Expectations 1.24.1 with severity levels. Critical failures block publication; warnings are recorded only. The real run passed all 16 bronze and 99 output expectations plus 13 reconciliation checks, with no warnings. To show the gate works, a controlled fixture took the real staged tables and injected four faults (duplicate primary key, negative retained price, a raw-looking customer key, and a +1,000 revenue change); the suite reported 7 critical failures, the publish function raised PublicationBlocked, no published folder was created and the LATEST pointer was unchanged. Rules were written so legitimate returns pass: a sign check only requires negative quantity to match a cancellation invoice. Amounts are in the dataset's currency, GBP per the dataset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bias suite measures representation using the only group attribute available, Country, plus time coverage, customer-identification coverage and cancellation patterns. There is no external benchmark, so reference points are the dataset's own overall rates and equal calendar coverage; findings are labelled internal representation imbalance. The United Kingdom holds 92% of lines (85.6% of gross sales revenue), 39 of 43 countries each hold under 1% of lines and 20 have fewer than 5 identified customers, so non-UK conclusions rest on thin samples. Cancellation rates are flagged for Germany, Switzerland and EIRE (high) and the Netherlands (low) when the ratio to the overall 15.8% is outside 0.8-1.25 with at least 100 invoices and a confidence interval that excludes the overall rate. Cleaning removes a larger share of unidentified-customer lines (6.5% vs 2.3%); the cause was not analysed here. Implications: UK-dominated KPIs, customer models limited to identified customers, seasonality estimated from about two cycles. Limitations: ratio bands are screening heuristics, not legal tests; demographic fairness cannot be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 inventory from the actual fields: no direct identifiers were found; Customer ID is a pseudonymous identifier and is replaced by an HMAC-SHA256 keyed pseudonym before any table leaves the restricted bronze zone. The secret comes from the CUSTOMER_KEY_SECRET environment variable and is never written to Git, logs or reports; Key Vault is the recommended production home. Staff first names appeared in 71 ledger-style descriptions and are redacted. Roles, access zones and retention periods are proposed policies pending the DPO and data owner; they are not enforced by the code, and the retention value is a placeholder. The audit log records metadata for every pipeline-managed read, write, transformation, validation and publication; it cannot see reads by people or other tools, which need storage-platform audit controls. Incident handling and data-subject deletion procedures are documented as proposals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marked as passed was executed and its output is stored in the repository's reports folder. Docker and CI were verified on GitHub Actions: run #4 on commit dfb67ea passed both the test job and the docker job (the image builds and the test suite passes inside it). The repository link on this slide is clickable and the pipeline package is pushed to it. Not done: running the full 1,067,371-row pipeline inside the container; the full-data runs used a Python virtual environment. Remaining limitations are summarised on the slide; see README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344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DrChitsungo/https-github.com-users-online-retail-analytics-"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914400"/>
            <a:ext cx="5120640" cy="13716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Retail Analytics Decision Support Platform</a:t>
            </a:r>
            <a:endParaRPr lang="en-US" sz="3600" dirty="0"/>
          </a:p>
        </p:txBody>
      </p:sp>
      <p:sp>
        <p:nvSpPr>
          <p:cNvPr id="3" name="Subtitle"/>
          <p:cNvSpPr txBox="1"/>
          <p:nvPr/>
        </p:nvSpPr>
        <p:spPr>
          <a:xfrm>
            <a:off x="548640" y="2377440"/>
            <a:ext cx="4937760" cy="731520"/>
          </a:xfrm>
          <a:prstGeom prst="rect">
            <a:avLst/>
          </a:prstGeom>
          <a:noFill/>
          <a:ln/>
        </p:spPr>
        <p:txBody>
          <a:bodyPr wrap="square" lIns="0" tIns="0" rIns="0" bIns="0" rtlCol="0" anchor="ctr"/>
          <a:lstStyle/>
          <a:p>
            <a:pPr indent="0" marL="0">
              <a:buNone/>
            </a:pPr>
            <a:r>
              <a:rPr lang="en-US" sz="1600" dirty="0">
                <a:solidFill>
                  <a:srgbClr val="8FB8DE"/>
                </a:solidFill>
                <a:latin typeface="Calibri" pitchFamily="34" charset="0"/>
                <a:ea typeface="Calibri" pitchFamily="34" charset="-122"/>
                <a:cs typeface="Calibri" pitchFamily="34" charset="-120"/>
              </a:rPr>
              <a:t>Module 3: a reproducible, validated and governed data pipeline for Online Retail II</a:t>
            </a:r>
            <a:endParaRPr lang="en-US" sz="1600" dirty="0"/>
          </a:p>
        </p:txBody>
      </p:sp>
      <p:sp>
        <p:nvSpPr>
          <p:cNvPr id="4" name="Text 2"/>
          <p:cNvSpPr txBox="1"/>
          <p:nvPr/>
        </p:nvSpPr>
        <p:spPr>
          <a:xfrm>
            <a:off x="548640" y="3566160"/>
            <a:ext cx="49377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Bezzel Chitsungo</a:t>
            </a:r>
            <a:endParaRPr lang="en-US" sz="2000" dirty="0"/>
          </a:p>
        </p:txBody>
      </p:sp>
      <p:sp>
        <p:nvSpPr>
          <p:cNvPr id="5" name="Text 3"/>
          <p:cNvSpPr txBox="1"/>
          <p:nvPr/>
        </p:nvSpPr>
        <p:spPr>
          <a:xfrm>
            <a:off x="548640" y="3950208"/>
            <a:ext cx="4937760" cy="320040"/>
          </a:xfrm>
          <a:prstGeom prst="rect">
            <a:avLst/>
          </a:prstGeom>
          <a:noFill/>
          <a:ln/>
        </p:spPr>
        <p:txBody>
          <a:bodyPr wrap="square" lIns="0" tIns="0" rIns="0" bIns="0" rtlCol="0" anchor="ctr"/>
          <a:lstStyle/>
          <a:p>
            <a:pPr indent="0" marL="0">
              <a:buNone/>
            </a:pPr>
            <a:r>
              <a:rPr lang="en-US" sz="1400" dirty="0">
                <a:solidFill>
                  <a:srgbClr val="8FB8DE"/>
                </a:solidFill>
                <a:latin typeface="Calibri" pitchFamily="34" charset="0"/>
                <a:ea typeface="Calibri" pitchFamily="34" charset="-122"/>
                <a:cs typeface="Calibri" pitchFamily="34" charset="-120"/>
              </a:rPr>
              <a:t>MSc Data Analytics, Nexford University  |  BAN 6800</a:t>
            </a:r>
            <a:endParaRPr lang="en-US" sz="1400" dirty="0"/>
          </a:p>
        </p:txBody>
      </p:sp>
      <p:sp>
        <p:nvSpPr>
          <p:cNvPr id="6" name="Stat card"/>
          <p:cNvSpPr/>
          <p:nvPr/>
        </p:nvSpPr>
        <p:spPr>
          <a:xfrm>
            <a:off x="5943600" y="914400"/>
            <a:ext cx="2743200" cy="1051560"/>
          </a:xfrm>
          <a:prstGeom prst="roundRect">
            <a:avLst>
              <a:gd name="adj" fmla="val 8696"/>
            </a:avLst>
          </a:prstGeom>
          <a:solidFill>
            <a:srgbClr val="1B4A6B"/>
          </a:solidFill>
          <a:ln w="12700">
            <a:solidFill>
              <a:srgbClr val="1B4A6B"/>
            </a:solidFill>
            <a:prstDash val="solid"/>
          </a:ln>
        </p:spPr>
      </p:sp>
      <p:sp>
        <p:nvSpPr>
          <p:cNvPr id="7" name="Text 5"/>
          <p:cNvSpPr txBox="1"/>
          <p:nvPr/>
        </p:nvSpPr>
        <p:spPr>
          <a:xfrm>
            <a:off x="6080760" y="987552"/>
            <a:ext cx="2468880" cy="50292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1,067,371</a:t>
            </a:r>
            <a:endParaRPr lang="en-US" sz="3000" dirty="0"/>
          </a:p>
        </p:txBody>
      </p:sp>
      <p:sp>
        <p:nvSpPr>
          <p:cNvPr id="8" name="Text 6"/>
          <p:cNvSpPr txBox="1"/>
          <p:nvPr/>
        </p:nvSpPr>
        <p:spPr>
          <a:xfrm>
            <a:off x="6080760" y="1499616"/>
            <a:ext cx="24688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raw transaction lines profiled and reconciled</a:t>
            </a:r>
            <a:endParaRPr lang="en-US" sz="1200" dirty="0"/>
          </a:p>
        </p:txBody>
      </p:sp>
      <p:sp>
        <p:nvSpPr>
          <p:cNvPr id="9" name="Stat card"/>
          <p:cNvSpPr/>
          <p:nvPr/>
        </p:nvSpPr>
        <p:spPr>
          <a:xfrm>
            <a:off x="5943600" y="2148840"/>
            <a:ext cx="2743200" cy="1051560"/>
          </a:xfrm>
          <a:prstGeom prst="roundRect">
            <a:avLst>
              <a:gd name="adj" fmla="val 8696"/>
            </a:avLst>
          </a:prstGeom>
          <a:solidFill>
            <a:srgbClr val="1B4A6B"/>
          </a:solidFill>
          <a:ln w="12700">
            <a:solidFill>
              <a:srgbClr val="1B4A6B"/>
            </a:solidFill>
            <a:prstDash val="solid"/>
          </a:ln>
        </p:spPr>
      </p:sp>
      <p:sp>
        <p:nvSpPr>
          <p:cNvPr id="10" name="Text 8"/>
          <p:cNvSpPr txBox="1"/>
          <p:nvPr/>
        </p:nvSpPr>
        <p:spPr>
          <a:xfrm>
            <a:off x="6080760" y="2221992"/>
            <a:ext cx="2468880" cy="50292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115</a:t>
            </a:r>
            <a:endParaRPr lang="en-US" sz="3000" dirty="0"/>
          </a:p>
        </p:txBody>
      </p:sp>
      <p:sp>
        <p:nvSpPr>
          <p:cNvPr id="11" name="Text 9"/>
          <p:cNvSpPr txBox="1"/>
          <p:nvPr/>
        </p:nvSpPr>
        <p:spPr>
          <a:xfrm>
            <a:off x="6080760" y="2734056"/>
            <a:ext cx="24688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Great Expectations checks, all passed</a:t>
            </a:r>
            <a:endParaRPr lang="en-US" sz="1200" dirty="0"/>
          </a:p>
        </p:txBody>
      </p:sp>
      <p:sp>
        <p:nvSpPr>
          <p:cNvPr id="12" name="Stat card"/>
          <p:cNvSpPr/>
          <p:nvPr/>
        </p:nvSpPr>
        <p:spPr>
          <a:xfrm>
            <a:off x="5943600" y="3383280"/>
            <a:ext cx="2743200" cy="1051560"/>
          </a:xfrm>
          <a:prstGeom prst="roundRect">
            <a:avLst>
              <a:gd name="adj" fmla="val 8696"/>
            </a:avLst>
          </a:prstGeom>
          <a:solidFill>
            <a:srgbClr val="1B4A6B"/>
          </a:solidFill>
          <a:ln w="12700">
            <a:solidFill>
              <a:srgbClr val="1B4A6B"/>
            </a:solidFill>
            <a:prstDash val="solid"/>
          </a:ln>
        </p:spPr>
      </p:sp>
      <p:sp>
        <p:nvSpPr>
          <p:cNvPr id="13" name="Text 11"/>
          <p:cNvSpPr txBox="1"/>
          <p:nvPr/>
        </p:nvSpPr>
        <p:spPr>
          <a:xfrm>
            <a:off x="6080760" y="3456432"/>
            <a:ext cx="2468880" cy="502920"/>
          </a:xfrm>
          <a:prstGeom prst="rect">
            <a:avLst/>
          </a:prstGeom>
          <a:noFill/>
          <a:ln/>
        </p:spPr>
        <p:txBody>
          <a:bodyPr wrap="square" lIns="0" tIns="0" rIns="0" bIns="0" rtlCol="0" anchor="ctr"/>
          <a:lstStyle/>
          <a:p>
            <a:pPr indent="0" marL="0">
              <a:buNone/>
            </a:pPr>
            <a:r>
              <a:rPr lang="en-US" sz="3000" b="1" dirty="0">
                <a:solidFill>
                  <a:srgbClr val="F2A541"/>
                </a:solidFill>
                <a:latin typeface="Cambria" pitchFamily="34" charset="0"/>
                <a:ea typeface="Cambria" pitchFamily="34" charset="-122"/>
                <a:cs typeface="Cambria" pitchFamily="34" charset="-120"/>
              </a:rPr>
              <a:t>64</a:t>
            </a:r>
            <a:endParaRPr lang="en-US" sz="3000" dirty="0"/>
          </a:p>
        </p:txBody>
      </p:sp>
      <p:sp>
        <p:nvSpPr>
          <p:cNvPr id="14" name="Text 12"/>
          <p:cNvSpPr txBox="1"/>
          <p:nvPr/>
        </p:nvSpPr>
        <p:spPr>
          <a:xfrm>
            <a:off x="6080760" y="3968496"/>
            <a:ext cx="2468880" cy="4114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automated tests passed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Business problem and continuity</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One gap: transaction data is not turned into timely, governed decisions</a:t>
            </a:r>
            <a:endParaRPr lang="en-US" sz="1400" dirty="0"/>
          </a:p>
        </p:txBody>
      </p:sp>
      <p:sp>
        <p:nvSpPr>
          <p:cNvPr id="4" name="Phase card"/>
          <p:cNvSpPr/>
          <p:nvPr/>
        </p:nvSpPr>
        <p:spPr>
          <a:xfrm>
            <a:off x="457200" y="1234440"/>
            <a:ext cx="2560320" cy="1691640"/>
          </a:xfrm>
          <a:prstGeom prst="roundRect">
            <a:avLst>
              <a:gd name="adj" fmla="val 4324"/>
            </a:avLst>
          </a:prstGeom>
          <a:solidFill>
            <a:srgbClr val="EEF3F5"/>
          </a:solidFill>
          <a:ln w="6350">
            <a:solidFill>
              <a:srgbClr val="EEF3F5"/>
            </a:solidFill>
            <a:prstDash val="solid"/>
          </a:ln>
        </p:spPr>
      </p:sp>
      <p:sp>
        <p:nvSpPr>
          <p:cNvPr id="5" name="Text 3"/>
          <p:cNvSpPr txBox="1"/>
          <p:nvPr/>
        </p:nvSpPr>
        <p:spPr>
          <a:xfrm>
            <a:off x="594360" y="1298448"/>
            <a:ext cx="2286000" cy="329184"/>
          </a:xfrm>
          <a:prstGeom prst="rect">
            <a:avLst/>
          </a:prstGeom>
          <a:noFill/>
          <a:ln/>
        </p:spPr>
        <p:txBody>
          <a:bodyPr wrap="square" lIns="0" tIns="0" rIns="0" bIns="0" rtlCol="0" anchor="ctr"/>
          <a:lstStyle/>
          <a:p>
            <a:pPr indent="0" marL="0">
              <a:buNone/>
            </a:pPr>
            <a:r>
              <a:rPr lang="en-US" sz="1500" b="1" dirty="0">
                <a:solidFill>
                  <a:srgbClr val="12344D"/>
                </a:solidFill>
                <a:latin typeface="Cambria" pitchFamily="34" charset="0"/>
                <a:ea typeface="Cambria" pitchFamily="34" charset="-122"/>
                <a:cs typeface="Cambria" pitchFamily="34" charset="-120"/>
              </a:rPr>
              <a:t>Module 1  Vision</a:t>
            </a:r>
            <a:endParaRPr lang="en-US" sz="1500" dirty="0"/>
          </a:p>
        </p:txBody>
      </p:sp>
      <p:sp>
        <p:nvSpPr>
          <p:cNvPr id="6" name="Text 4"/>
          <p:cNvSpPr txBox="1"/>
          <p:nvPr/>
        </p:nvSpPr>
        <p:spPr>
          <a:xfrm>
            <a:off x="594360" y="1664208"/>
            <a:ext cx="2331720" cy="11887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UK giftware retailer; spreadsheet reporting</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Forecasting, RFM, churn, inventory goals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Ethical AI Charter: fairness, privacy</a:t>
            </a:r>
            <a:endParaRPr lang="en-US" sz="1200" dirty="0"/>
          </a:p>
        </p:txBody>
      </p:sp>
      <p:sp>
        <p:nvSpPr>
          <p:cNvPr id="7" name="Arrow"/>
          <p:cNvSpPr/>
          <p:nvPr/>
        </p:nvSpPr>
        <p:spPr>
          <a:xfrm>
            <a:off x="3035808" y="2011680"/>
            <a:ext cx="237744" cy="0"/>
          </a:xfrm>
          <a:prstGeom prst="line">
            <a:avLst/>
          </a:prstGeom>
          <a:noFill/>
          <a:ln w="19050">
            <a:solidFill>
              <a:srgbClr val="1C7C7D"/>
            </a:solidFill>
            <a:prstDash val="solid"/>
            <a:tailEnd type="triangle"/>
          </a:ln>
        </p:spPr>
      </p:sp>
      <p:sp>
        <p:nvSpPr>
          <p:cNvPr id="8" name="Phase card"/>
          <p:cNvSpPr/>
          <p:nvPr/>
        </p:nvSpPr>
        <p:spPr>
          <a:xfrm>
            <a:off x="3291840" y="1234440"/>
            <a:ext cx="2560320" cy="1691640"/>
          </a:xfrm>
          <a:prstGeom prst="roundRect">
            <a:avLst>
              <a:gd name="adj" fmla="val 4324"/>
            </a:avLst>
          </a:prstGeom>
          <a:solidFill>
            <a:srgbClr val="EEF3F5"/>
          </a:solidFill>
          <a:ln w="6350">
            <a:solidFill>
              <a:srgbClr val="EEF3F5"/>
            </a:solidFill>
            <a:prstDash val="solid"/>
          </a:ln>
        </p:spPr>
      </p:sp>
      <p:sp>
        <p:nvSpPr>
          <p:cNvPr id="9" name="Text 7"/>
          <p:cNvSpPr txBox="1"/>
          <p:nvPr/>
        </p:nvSpPr>
        <p:spPr>
          <a:xfrm>
            <a:off x="3429000" y="1298448"/>
            <a:ext cx="2286000" cy="329184"/>
          </a:xfrm>
          <a:prstGeom prst="rect">
            <a:avLst/>
          </a:prstGeom>
          <a:noFill/>
          <a:ln/>
        </p:spPr>
        <p:txBody>
          <a:bodyPr wrap="square" lIns="0" tIns="0" rIns="0" bIns="0" rtlCol="0" anchor="ctr"/>
          <a:lstStyle/>
          <a:p>
            <a:pPr indent="0" marL="0">
              <a:buNone/>
            </a:pPr>
            <a:r>
              <a:rPr lang="en-US" sz="1500" b="1" dirty="0">
                <a:solidFill>
                  <a:srgbClr val="12344D"/>
                </a:solidFill>
                <a:latin typeface="Cambria" pitchFamily="34" charset="0"/>
                <a:ea typeface="Cambria" pitchFamily="34" charset="-122"/>
                <a:cs typeface="Cambria" pitchFamily="34" charset="-120"/>
              </a:rPr>
              <a:t>Module 2  Blueprint</a:t>
            </a:r>
            <a:endParaRPr lang="en-US" sz="1500" dirty="0"/>
          </a:p>
        </p:txBody>
      </p:sp>
      <p:sp>
        <p:nvSpPr>
          <p:cNvPr id="10" name="Text 8"/>
          <p:cNvSpPr txBox="1"/>
          <p:nvPr/>
        </p:nvSpPr>
        <p:spPr>
          <a:xfrm>
            <a:off x="3429000" y="1664208"/>
            <a:ext cx="2331720" cy="11887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Azure architecture and Privacy Plan</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Agile plan, RAID log, fairness metrics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Keyed-hash Customer ID, zoned storage</a:t>
            </a:r>
            <a:endParaRPr lang="en-US" sz="1200" dirty="0"/>
          </a:p>
        </p:txBody>
      </p:sp>
      <p:sp>
        <p:nvSpPr>
          <p:cNvPr id="11" name="Arrow"/>
          <p:cNvSpPr/>
          <p:nvPr/>
        </p:nvSpPr>
        <p:spPr>
          <a:xfrm>
            <a:off x="5870448" y="2011680"/>
            <a:ext cx="237744" cy="0"/>
          </a:xfrm>
          <a:prstGeom prst="line">
            <a:avLst/>
          </a:prstGeom>
          <a:noFill/>
          <a:ln w="19050">
            <a:solidFill>
              <a:srgbClr val="1C7C7D"/>
            </a:solidFill>
            <a:prstDash val="solid"/>
            <a:tailEnd type="triangle"/>
          </a:ln>
        </p:spPr>
      </p:sp>
      <p:sp>
        <p:nvSpPr>
          <p:cNvPr id="12" name="Phase card"/>
          <p:cNvSpPr/>
          <p:nvPr/>
        </p:nvSpPr>
        <p:spPr>
          <a:xfrm>
            <a:off x="6126480" y="1234440"/>
            <a:ext cx="2560320" cy="1691640"/>
          </a:xfrm>
          <a:prstGeom prst="roundRect">
            <a:avLst>
              <a:gd name="adj" fmla="val 4324"/>
            </a:avLst>
          </a:prstGeom>
          <a:solidFill>
            <a:srgbClr val="DCEFEF"/>
          </a:solidFill>
          <a:ln w="6350">
            <a:solidFill>
              <a:srgbClr val="DCEFEF"/>
            </a:solidFill>
            <a:prstDash val="solid"/>
          </a:ln>
        </p:spPr>
      </p:sp>
      <p:sp>
        <p:nvSpPr>
          <p:cNvPr id="13" name="Text 11"/>
          <p:cNvSpPr txBox="1"/>
          <p:nvPr/>
        </p:nvSpPr>
        <p:spPr>
          <a:xfrm>
            <a:off x="6263640" y="1298448"/>
            <a:ext cx="2286000" cy="329184"/>
          </a:xfrm>
          <a:prstGeom prst="rect">
            <a:avLst/>
          </a:prstGeom>
          <a:noFill/>
          <a:ln/>
        </p:spPr>
        <p:txBody>
          <a:bodyPr wrap="square" lIns="0" tIns="0" rIns="0" bIns="0" rtlCol="0" anchor="ctr"/>
          <a:lstStyle/>
          <a:p>
            <a:pPr indent="0" marL="0">
              <a:buNone/>
            </a:pPr>
            <a:r>
              <a:rPr lang="en-US" sz="1500" b="1" dirty="0">
                <a:solidFill>
                  <a:srgbClr val="1C7C7D"/>
                </a:solidFill>
                <a:latin typeface="Cambria" pitchFamily="34" charset="0"/>
                <a:ea typeface="Cambria" pitchFamily="34" charset="-122"/>
                <a:cs typeface="Cambria" pitchFamily="34" charset="-120"/>
              </a:rPr>
              <a:t>Module 3  This pipeline</a:t>
            </a:r>
            <a:endParaRPr lang="en-US" sz="1500" dirty="0"/>
          </a:p>
        </p:txBody>
      </p:sp>
      <p:sp>
        <p:nvSpPr>
          <p:cNvPr id="14" name="Text 12"/>
          <p:cNvSpPr txBox="1"/>
          <p:nvPr/>
        </p:nvSpPr>
        <p:spPr>
          <a:xfrm>
            <a:off x="6263640" y="1664208"/>
            <a:ext cx="2331720" cy="11887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Executable DAG on the real file</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Validation, bias, privacy, audit</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Governed tables for every user group</a:t>
            </a:r>
            <a:endParaRPr lang="en-US" sz="1200" dirty="0"/>
          </a:p>
        </p:txBody>
      </p:sp>
      <p:sp>
        <p:nvSpPr>
          <p:cNvPr id="15" name="Text 13"/>
          <p:cNvSpPr txBox="1"/>
          <p:nvPr/>
        </p:nvSpPr>
        <p:spPr>
          <a:xfrm>
            <a:off x="457200" y="3090672"/>
            <a:ext cx="8229600" cy="274320"/>
          </a:xfrm>
          <a:prstGeom prst="rect">
            <a:avLst/>
          </a:prstGeom>
          <a:noFill/>
          <a:ln/>
        </p:spPr>
        <p:txBody>
          <a:bodyPr wrap="square" lIns="0" tIns="0" rIns="0" bIns="0" rtlCol="0" anchor="ctr"/>
          <a:lstStyle/>
          <a:p>
            <a:pPr indent="0" marL="0">
              <a:buNone/>
            </a:pPr>
            <a:r>
              <a:rPr lang="en-US" sz="1400" b="1" dirty="0">
                <a:solidFill>
                  <a:srgbClr val="12344D"/>
                </a:solidFill>
                <a:latin typeface="Calibri" pitchFamily="34" charset="0"/>
                <a:ea typeface="Calibri" pitchFamily="34" charset="-122"/>
                <a:cs typeface="Calibri" pitchFamily="34" charset="-120"/>
              </a:rPr>
              <a:t>Who uses the outputs, and which decision they support</a:t>
            </a:r>
            <a:endParaRPr lang="en-US" sz="1400" dirty="0"/>
          </a:p>
        </p:txBody>
      </p:sp>
      <p:sp>
        <p:nvSpPr>
          <p:cNvPr id="16" name="User card"/>
          <p:cNvSpPr/>
          <p:nvPr/>
        </p:nvSpPr>
        <p:spPr>
          <a:xfrm>
            <a:off x="457200" y="3429000"/>
            <a:ext cx="1920240" cy="1234440"/>
          </a:xfrm>
          <a:prstGeom prst="roundRect">
            <a:avLst>
              <a:gd name="adj" fmla="val 5926"/>
            </a:avLst>
          </a:prstGeom>
          <a:solidFill>
            <a:srgbClr val="FFFFFF"/>
          </a:solidFill>
          <a:ln w="6350">
            <a:solidFill>
              <a:srgbClr val="FFFFFF"/>
            </a:solidFill>
            <a:prstDash val="solid"/>
          </a:ln>
        </p:spPr>
      </p:sp>
      <p:sp>
        <p:nvSpPr>
          <p:cNvPr id="17" name="Shape 15"/>
          <p:cNvSpPr/>
          <p:nvPr/>
        </p:nvSpPr>
        <p:spPr>
          <a:xfrm>
            <a:off x="457200" y="3429000"/>
            <a:ext cx="1920240" cy="1234440"/>
          </a:xfrm>
          <a:prstGeom prst="roundRect">
            <a:avLst>
              <a:gd name="adj" fmla="val 5926"/>
            </a:avLst>
          </a:prstGeom>
          <a:solidFill>
            <a:srgbClr val="FFFFFF"/>
          </a:solidFill>
          <a:ln w="12700">
            <a:solidFill>
              <a:srgbClr val="8FB8DE"/>
            </a:solidFill>
            <a:prstDash val="solid"/>
          </a:ln>
        </p:spPr>
      </p:sp>
      <p:sp>
        <p:nvSpPr>
          <p:cNvPr id="18" name="Text 16"/>
          <p:cNvSpPr txBox="1"/>
          <p:nvPr/>
        </p:nvSpPr>
        <p:spPr>
          <a:xfrm>
            <a:off x="548640"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Finance and leaders</a:t>
            </a:r>
            <a:endParaRPr lang="en-US" sz="1200" dirty="0"/>
          </a:p>
        </p:txBody>
      </p:sp>
      <p:sp>
        <p:nvSpPr>
          <p:cNvPr id="19" name="Text 17"/>
          <p:cNvSpPr txBox="1"/>
          <p:nvPr/>
        </p:nvSpPr>
        <p:spPr>
          <a:xfrm>
            <a:off x="548640"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Daily revenue by country</a:t>
            </a:r>
            <a:endParaRPr lang="en-US" sz="1200" dirty="0"/>
          </a:p>
        </p:txBody>
      </p:sp>
      <p:sp>
        <p:nvSpPr>
          <p:cNvPr id="20" name="Text 18"/>
          <p:cNvSpPr txBox="1"/>
          <p:nvPr/>
        </p:nvSpPr>
        <p:spPr>
          <a:xfrm>
            <a:off x="548640"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Investment</a:t>
            </a:r>
            <a:endParaRPr lang="en-US" sz="1200" dirty="0"/>
          </a:p>
        </p:txBody>
      </p:sp>
      <p:sp>
        <p:nvSpPr>
          <p:cNvPr id="21" name="User card"/>
          <p:cNvSpPr/>
          <p:nvPr/>
        </p:nvSpPr>
        <p:spPr>
          <a:xfrm>
            <a:off x="2542032" y="3429000"/>
            <a:ext cx="1920240" cy="1234440"/>
          </a:xfrm>
          <a:prstGeom prst="roundRect">
            <a:avLst>
              <a:gd name="adj" fmla="val 5926"/>
            </a:avLst>
          </a:prstGeom>
          <a:solidFill>
            <a:srgbClr val="FFFFFF"/>
          </a:solidFill>
          <a:ln w="6350">
            <a:solidFill>
              <a:srgbClr val="FFFFFF"/>
            </a:solidFill>
            <a:prstDash val="solid"/>
          </a:ln>
        </p:spPr>
      </p:sp>
      <p:sp>
        <p:nvSpPr>
          <p:cNvPr id="22" name="Shape 20"/>
          <p:cNvSpPr/>
          <p:nvPr/>
        </p:nvSpPr>
        <p:spPr>
          <a:xfrm>
            <a:off x="2542032" y="3429000"/>
            <a:ext cx="1920240" cy="1234440"/>
          </a:xfrm>
          <a:prstGeom prst="roundRect">
            <a:avLst>
              <a:gd name="adj" fmla="val 5926"/>
            </a:avLst>
          </a:prstGeom>
          <a:solidFill>
            <a:srgbClr val="FFFFFF"/>
          </a:solidFill>
          <a:ln w="12700">
            <a:solidFill>
              <a:srgbClr val="8FB8DE"/>
            </a:solidFill>
            <a:prstDash val="solid"/>
          </a:ln>
        </p:spPr>
      </p:sp>
      <p:sp>
        <p:nvSpPr>
          <p:cNvPr id="23" name="Text 21"/>
          <p:cNvSpPr txBox="1"/>
          <p:nvPr/>
        </p:nvSpPr>
        <p:spPr>
          <a:xfrm>
            <a:off x="2633472"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Inventory and Procurement</a:t>
            </a:r>
            <a:endParaRPr lang="en-US" sz="1200" dirty="0"/>
          </a:p>
        </p:txBody>
      </p:sp>
      <p:sp>
        <p:nvSpPr>
          <p:cNvPr id="24" name="Text 22"/>
          <p:cNvSpPr txBox="1"/>
          <p:nvPr/>
        </p:nvSpPr>
        <p:spPr>
          <a:xfrm>
            <a:off x="2633472"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Weekly SKU demand</a:t>
            </a:r>
            <a:endParaRPr lang="en-US" sz="1200" dirty="0"/>
          </a:p>
        </p:txBody>
      </p:sp>
      <p:sp>
        <p:nvSpPr>
          <p:cNvPr id="25" name="Text 23"/>
          <p:cNvSpPr txBox="1"/>
          <p:nvPr/>
        </p:nvSpPr>
        <p:spPr>
          <a:xfrm>
            <a:off x="2633472"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Reorder quantities</a:t>
            </a:r>
            <a:endParaRPr lang="en-US" sz="1200" dirty="0"/>
          </a:p>
        </p:txBody>
      </p:sp>
      <p:sp>
        <p:nvSpPr>
          <p:cNvPr id="26" name="User card"/>
          <p:cNvSpPr/>
          <p:nvPr/>
        </p:nvSpPr>
        <p:spPr>
          <a:xfrm>
            <a:off x="4626864" y="3429000"/>
            <a:ext cx="1920240" cy="1234440"/>
          </a:xfrm>
          <a:prstGeom prst="roundRect">
            <a:avLst>
              <a:gd name="adj" fmla="val 5926"/>
            </a:avLst>
          </a:prstGeom>
          <a:solidFill>
            <a:srgbClr val="FFFFFF"/>
          </a:solidFill>
          <a:ln w="6350">
            <a:solidFill>
              <a:srgbClr val="FFFFFF"/>
            </a:solidFill>
            <a:prstDash val="solid"/>
          </a:ln>
        </p:spPr>
      </p:sp>
      <p:sp>
        <p:nvSpPr>
          <p:cNvPr id="27" name="Shape 25"/>
          <p:cNvSpPr/>
          <p:nvPr/>
        </p:nvSpPr>
        <p:spPr>
          <a:xfrm>
            <a:off x="4626864" y="3429000"/>
            <a:ext cx="1920240" cy="1234440"/>
          </a:xfrm>
          <a:prstGeom prst="roundRect">
            <a:avLst>
              <a:gd name="adj" fmla="val 5926"/>
            </a:avLst>
          </a:prstGeom>
          <a:solidFill>
            <a:srgbClr val="FFFFFF"/>
          </a:solidFill>
          <a:ln w="12700">
            <a:solidFill>
              <a:srgbClr val="8FB8DE"/>
            </a:solidFill>
            <a:prstDash val="solid"/>
          </a:ln>
        </p:spPr>
      </p:sp>
      <p:sp>
        <p:nvSpPr>
          <p:cNvPr id="28" name="Text 26"/>
          <p:cNvSpPr txBox="1"/>
          <p:nvPr/>
        </p:nvSpPr>
        <p:spPr>
          <a:xfrm>
            <a:off x="4718304"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Marketing</a:t>
            </a:r>
            <a:endParaRPr lang="en-US" sz="1200" dirty="0"/>
          </a:p>
        </p:txBody>
      </p:sp>
      <p:sp>
        <p:nvSpPr>
          <p:cNvPr id="29" name="Text 27"/>
          <p:cNvSpPr txBox="1"/>
          <p:nvPr/>
        </p:nvSpPr>
        <p:spPr>
          <a:xfrm>
            <a:off x="4718304"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RFM base per customer</a:t>
            </a:r>
            <a:endParaRPr lang="en-US" sz="1200" dirty="0"/>
          </a:p>
        </p:txBody>
      </p:sp>
      <p:sp>
        <p:nvSpPr>
          <p:cNvPr id="30" name="Text 28"/>
          <p:cNvSpPr txBox="1"/>
          <p:nvPr/>
        </p:nvSpPr>
        <p:spPr>
          <a:xfrm>
            <a:off x="4718304"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Campaign design</a:t>
            </a:r>
            <a:endParaRPr lang="en-US" sz="1200" dirty="0"/>
          </a:p>
        </p:txBody>
      </p:sp>
      <p:sp>
        <p:nvSpPr>
          <p:cNvPr id="31" name="User card"/>
          <p:cNvSpPr/>
          <p:nvPr/>
        </p:nvSpPr>
        <p:spPr>
          <a:xfrm>
            <a:off x="6711696" y="3429000"/>
            <a:ext cx="1920240" cy="1234440"/>
          </a:xfrm>
          <a:prstGeom prst="roundRect">
            <a:avLst>
              <a:gd name="adj" fmla="val 5926"/>
            </a:avLst>
          </a:prstGeom>
          <a:solidFill>
            <a:srgbClr val="FFFFFF"/>
          </a:solidFill>
          <a:ln w="6350">
            <a:solidFill>
              <a:srgbClr val="FFFFFF"/>
            </a:solidFill>
            <a:prstDash val="solid"/>
          </a:ln>
        </p:spPr>
      </p:sp>
      <p:sp>
        <p:nvSpPr>
          <p:cNvPr id="32" name="Shape 30"/>
          <p:cNvSpPr/>
          <p:nvPr/>
        </p:nvSpPr>
        <p:spPr>
          <a:xfrm>
            <a:off x="6711696" y="3429000"/>
            <a:ext cx="1920240" cy="1234440"/>
          </a:xfrm>
          <a:prstGeom prst="roundRect">
            <a:avLst>
              <a:gd name="adj" fmla="val 5926"/>
            </a:avLst>
          </a:prstGeom>
          <a:solidFill>
            <a:srgbClr val="FFFFFF"/>
          </a:solidFill>
          <a:ln w="12700">
            <a:solidFill>
              <a:srgbClr val="8FB8DE"/>
            </a:solidFill>
            <a:prstDash val="solid"/>
          </a:ln>
        </p:spPr>
      </p:sp>
      <p:sp>
        <p:nvSpPr>
          <p:cNvPr id="33" name="Text 31"/>
          <p:cNvSpPr txBox="1"/>
          <p:nvPr/>
        </p:nvSpPr>
        <p:spPr>
          <a:xfrm>
            <a:off x="6803136" y="3483864"/>
            <a:ext cx="1737360" cy="457200"/>
          </a:xfrm>
          <a:prstGeom prst="rect">
            <a:avLst/>
          </a:prstGeom>
          <a:noFill/>
          <a:ln/>
        </p:spPr>
        <p:txBody>
          <a:bodyPr wrap="square" lIns="0" tIns="0" rIns="0" bIns="0" rtlCol="0" anchor="t"/>
          <a:lstStyle/>
          <a:p>
            <a:pPr indent="0" marL="0">
              <a:buNone/>
            </a:pPr>
            <a:r>
              <a:rPr lang="en-US" sz="1200" b="1" dirty="0">
                <a:solidFill>
                  <a:srgbClr val="12344D"/>
                </a:solidFill>
                <a:latin typeface="Calibri" pitchFamily="34" charset="0"/>
                <a:ea typeface="Calibri" pitchFamily="34" charset="-122"/>
                <a:cs typeface="Calibri" pitchFamily="34" charset="-120"/>
              </a:rPr>
              <a:t>E-commerce and Operations</a:t>
            </a:r>
            <a:endParaRPr lang="en-US" sz="1200" dirty="0"/>
          </a:p>
        </p:txBody>
      </p:sp>
      <p:sp>
        <p:nvSpPr>
          <p:cNvPr id="34" name="Text 32"/>
          <p:cNvSpPr txBox="1"/>
          <p:nvPr/>
        </p:nvSpPr>
        <p:spPr>
          <a:xfrm>
            <a:off x="6803136" y="3931920"/>
            <a:ext cx="1737360" cy="274320"/>
          </a:xfrm>
          <a:prstGeom prst="rect">
            <a:avLst/>
          </a:prstGeom>
          <a:noFill/>
          <a:ln/>
        </p:spPr>
        <p:txBody>
          <a:bodyPr wrap="square" lIns="0" tIns="0" rIns="0" bIns="0" rtlCol="0" anchor="ctr"/>
          <a:lstStyle/>
          <a:p>
            <a:pPr indent="0" marL="0">
              <a:buNone/>
            </a:pPr>
            <a:r>
              <a:rPr lang="en-US" sz="1200" dirty="0">
                <a:solidFill>
                  <a:srgbClr val="1B2A38"/>
                </a:solidFill>
                <a:latin typeface="Calibri" pitchFamily="34" charset="0"/>
                <a:ea typeface="Calibri" pitchFamily="34" charset="-122"/>
                <a:cs typeface="Calibri" pitchFamily="34" charset="-120"/>
              </a:rPr>
              <a:t>Sales and cancellations</a:t>
            </a:r>
            <a:endParaRPr lang="en-US" sz="1200" dirty="0"/>
          </a:p>
        </p:txBody>
      </p:sp>
      <p:sp>
        <p:nvSpPr>
          <p:cNvPr id="35" name="Text 33"/>
          <p:cNvSpPr txBox="1"/>
          <p:nvPr/>
        </p:nvSpPr>
        <p:spPr>
          <a:xfrm>
            <a:off x="6803136" y="4270248"/>
            <a:ext cx="1737360" cy="274320"/>
          </a:xfrm>
          <a:prstGeom prst="rect">
            <a:avLst/>
          </a:prstGeom>
          <a:noFill/>
          <a:ln/>
        </p:spPr>
        <p:txBody>
          <a:bodyPr wrap="square" lIns="0" tIns="0" rIns="0" bIns="0" rtlCol="0" anchor="ctr"/>
          <a:lstStyle/>
          <a:p>
            <a:pPr indent="0" marL="0">
              <a:buNone/>
            </a:pPr>
            <a:r>
              <a:rPr lang="en-US" sz="1200" b="1" dirty="0">
                <a:solidFill>
                  <a:srgbClr val="1C7C7D"/>
                </a:solidFill>
                <a:latin typeface="Calibri" pitchFamily="34" charset="0"/>
                <a:ea typeface="Calibri" pitchFamily="34" charset="-122"/>
                <a:cs typeface="Calibri" pitchFamily="34" charset="-120"/>
              </a:rPr>
              <a:t>-&gt; Merchandising</a:t>
            </a:r>
            <a:endParaRPr lang="en-US" sz="1200" dirty="0"/>
          </a:p>
        </p:txBody>
      </p:sp>
      <p:sp>
        <p:nvSpPr>
          <p:cNvPr id="36"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Sources: Module 1 Vision Document; Module 2 Business Analytics Project Overview Report (14 Oct 2026)</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Actual data and inputs</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Real file, verified size; no synthetic records were needed</a:t>
            </a:r>
            <a:endParaRPr lang="en-US" sz="1400" dirty="0"/>
          </a:p>
        </p:txBody>
      </p:sp>
      <p:sp>
        <p:nvSpPr>
          <p:cNvPr id="4" name="Stat card"/>
          <p:cNvSpPr/>
          <p:nvPr/>
        </p:nvSpPr>
        <p:spPr>
          <a:xfrm>
            <a:off x="457200" y="1234440"/>
            <a:ext cx="1920240" cy="1005840"/>
          </a:xfrm>
          <a:prstGeom prst="roundRect">
            <a:avLst>
              <a:gd name="adj" fmla="val 7273"/>
            </a:avLst>
          </a:prstGeom>
          <a:solidFill>
            <a:srgbClr val="EEF3F5"/>
          </a:solidFill>
          <a:ln w="6350">
            <a:solidFill>
              <a:srgbClr val="EEF3F5"/>
            </a:solidFill>
            <a:prstDash val="solid"/>
          </a:ln>
        </p:spPr>
      </p:sp>
      <p:sp>
        <p:nvSpPr>
          <p:cNvPr id="5" name="Text 3"/>
          <p:cNvSpPr txBox="1"/>
          <p:nvPr/>
        </p:nvSpPr>
        <p:spPr>
          <a:xfrm>
            <a:off x="548640" y="1289304"/>
            <a:ext cx="1737360" cy="553212"/>
          </a:xfrm>
          <a:prstGeom prst="rect">
            <a:avLst/>
          </a:prstGeom>
          <a:noFill/>
          <a:ln/>
        </p:spPr>
        <p:txBody>
          <a:bodyPr wrap="square" lIns="0" tIns="0" rIns="0" bIns="0" rtlCol="0" anchor="ctr"/>
          <a:lstStyle/>
          <a:p>
            <a:pPr indent="0" marL="0">
              <a:buNone/>
            </a:pPr>
            <a:r>
              <a:rPr lang="en-US" sz="2600" b="1" dirty="0">
                <a:solidFill>
                  <a:srgbClr val="1C7C7D"/>
                </a:solidFill>
                <a:latin typeface="Cambria" pitchFamily="34" charset="0"/>
                <a:ea typeface="Cambria" pitchFamily="34" charset="-122"/>
                <a:cs typeface="Cambria" pitchFamily="34" charset="-120"/>
              </a:rPr>
              <a:t>1,067,371</a:t>
            </a:r>
            <a:endParaRPr lang="en-US" sz="2600" dirty="0"/>
          </a:p>
        </p:txBody>
      </p:sp>
      <p:sp>
        <p:nvSpPr>
          <p:cNvPr id="6" name="Text 4"/>
          <p:cNvSpPr txBox="1"/>
          <p:nvPr/>
        </p:nvSpPr>
        <p:spPr>
          <a:xfrm>
            <a:off x="548640" y="1787652"/>
            <a:ext cx="17373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rows (requirement: at least 5,000)</a:t>
            </a:r>
            <a:endParaRPr lang="en-US" sz="1200" dirty="0"/>
          </a:p>
        </p:txBody>
      </p:sp>
      <p:sp>
        <p:nvSpPr>
          <p:cNvPr id="7" name="Stat card"/>
          <p:cNvSpPr/>
          <p:nvPr/>
        </p:nvSpPr>
        <p:spPr>
          <a:xfrm>
            <a:off x="2514600" y="1234440"/>
            <a:ext cx="1463040" cy="1005840"/>
          </a:xfrm>
          <a:prstGeom prst="roundRect">
            <a:avLst>
              <a:gd name="adj" fmla="val 7273"/>
            </a:avLst>
          </a:prstGeom>
          <a:solidFill>
            <a:srgbClr val="EEF3F5"/>
          </a:solidFill>
          <a:ln w="6350">
            <a:solidFill>
              <a:srgbClr val="EEF3F5"/>
            </a:solidFill>
            <a:prstDash val="solid"/>
          </a:ln>
        </p:spPr>
      </p:sp>
      <p:sp>
        <p:nvSpPr>
          <p:cNvPr id="8" name="Text 6"/>
          <p:cNvSpPr txBox="1"/>
          <p:nvPr/>
        </p:nvSpPr>
        <p:spPr>
          <a:xfrm>
            <a:off x="2606040" y="1289304"/>
            <a:ext cx="1280160" cy="553212"/>
          </a:xfrm>
          <a:prstGeom prst="rect">
            <a:avLst/>
          </a:prstGeom>
          <a:noFill/>
          <a:ln/>
        </p:spPr>
        <p:txBody>
          <a:bodyPr wrap="square" lIns="0" tIns="0" rIns="0" bIns="0" rtlCol="0" anchor="ctr"/>
          <a:lstStyle/>
          <a:p>
            <a:pPr indent="0" marL="0">
              <a:buNone/>
            </a:pPr>
            <a:r>
              <a:rPr lang="en-US" sz="2600" b="1" dirty="0">
                <a:solidFill>
                  <a:srgbClr val="12344D"/>
                </a:solidFill>
                <a:latin typeface="Cambria" pitchFamily="34" charset="0"/>
                <a:ea typeface="Cambria" pitchFamily="34" charset="-122"/>
                <a:cs typeface="Cambria" pitchFamily="34" charset="-120"/>
              </a:rPr>
              <a:t>8</a:t>
            </a:r>
            <a:endParaRPr lang="en-US" sz="2600" dirty="0"/>
          </a:p>
        </p:txBody>
      </p:sp>
      <p:sp>
        <p:nvSpPr>
          <p:cNvPr id="9" name="Text 7"/>
          <p:cNvSpPr txBox="1"/>
          <p:nvPr/>
        </p:nvSpPr>
        <p:spPr>
          <a:xfrm>
            <a:off x="2606040" y="1787652"/>
            <a:ext cx="12801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source fields</a:t>
            </a:r>
            <a:endParaRPr lang="en-US" sz="1200" dirty="0"/>
          </a:p>
        </p:txBody>
      </p:sp>
      <p:sp>
        <p:nvSpPr>
          <p:cNvPr id="10" name="Stat card"/>
          <p:cNvSpPr/>
          <p:nvPr/>
        </p:nvSpPr>
        <p:spPr>
          <a:xfrm>
            <a:off x="457200" y="2377440"/>
            <a:ext cx="1920240" cy="1005840"/>
          </a:xfrm>
          <a:prstGeom prst="roundRect">
            <a:avLst>
              <a:gd name="adj" fmla="val 7273"/>
            </a:avLst>
          </a:prstGeom>
          <a:solidFill>
            <a:srgbClr val="EEF3F5"/>
          </a:solidFill>
          <a:ln w="6350">
            <a:solidFill>
              <a:srgbClr val="EEF3F5"/>
            </a:solidFill>
            <a:prstDash val="solid"/>
          </a:ln>
        </p:spPr>
      </p:sp>
      <p:sp>
        <p:nvSpPr>
          <p:cNvPr id="11" name="Text 9"/>
          <p:cNvSpPr txBox="1"/>
          <p:nvPr/>
        </p:nvSpPr>
        <p:spPr>
          <a:xfrm>
            <a:off x="548640" y="2432304"/>
            <a:ext cx="1737360" cy="553212"/>
          </a:xfrm>
          <a:prstGeom prst="rect">
            <a:avLst/>
          </a:prstGeom>
          <a:noFill/>
          <a:ln/>
        </p:spPr>
        <p:txBody>
          <a:bodyPr wrap="square" lIns="0" tIns="0" rIns="0" bIns="0" rtlCol="0" anchor="ctr"/>
          <a:lstStyle/>
          <a:p>
            <a:pPr indent="0" marL="0">
              <a:buNone/>
            </a:pPr>
            <a:r>
              <a:rPr lang="en-US" sz="2600" b="1" dirty="0">
                <a:solidFill>
                  <a:srgbClr val="12344D"/>
                </a:solidFill>
                <a:latin typeface="Cambria" pitchFamily="34" charset="0"/>
                <a:ea typeface="Cambria" pitchFamily="34" charset="-122"/>
                <a:cs typeface="Cambria" pitchFamily="34" charset="-120"/>
              </a:rPr>
              <a:t>43</a:t>
            </a:r>
            <a:endParaRPr lang="en-US" sz="2600" dirty="0"/>
          </a:p>
        </p:txBody>
      </p:sp>
      <p:sp>
        <p:nvSpPr>
          <p:cNvPr id="12" name="Text 10"/>
          <p:cNvSpPr txBox="1"/>
          <p:nvPr/>
        </p:nvSpPr>
        <p:spPr>
          <a:xfrm>
            <a:off x="548640" y="2930652"/>
            <a:ext cx="17373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countries recorded</a:t>
            </a:r>
            <a:endParaRPr lang="en-US" sz="1200" dirty="0"/>
          </a:p>
        </p:txBody>
      </p:sp>
      <p:sp>
        <p:nvSpPr>
          <p:cNvPr id="13" name="Stat card"/>
          <p:cNvSpPr/>
          <p:nvPr/>
        </p:nvSpPr>
        <p:spPr>
          <a:xfrm>
            <a:off x="2514600" y="2377440"/>
            <a:ext cx="1463040" cy="1005840"/>
          </a:xfrm>
          <a:prstGeom prst="roundRect">
            <a:avLst>
              <a:gd name="adj" fmla="val 7273"/>
            </a:avLst>
          </a:prstGeom>
          <a:solidFill>
            <a:srgbClr val="EEF3F5"/>
          </a:solidFill>
          <a:ln w="6350">
            <a:solidFill>
              <a:srgbClr val="EEF3F5"/>
            </a:solidFill>
            <a:prstDash val="solid"/>
          </a:ln>
        </p:spPr>
      </p:sp>
      <p:sp>
        <p:nvSpPr>
          <p:cNvPr id="14" name="Text 12"/>
          <p:cNvSpPr txBox="1"/>
          <p:nvPr/>
        </p:nvSpPr>
        <p:spPr>
          <a:xfrm>
            <a:off x="2606040" y="2432304"/>
            <a:ext cx="1280160" cy="553212"/>
          </a:xfrm>
          <a:prstGeom prst="rect">
            <a:avLst/>
          </a:prstGeom>
          <a:noFill/>
          <a:ln/>
        </p:spPr>
        <p:txBody>
          <a:bodyPr wrap="square" lIns="0" tIns="0" rIns="0" bIns="0" rtlCol="0" anchor="ctr"/>
          <a:lstStyle/>
          <a:p>
            <a:pPr indent="0" marL="0">
              <a:buNone/>
            </a:pPr>
            <a:r>
              <a:rPr lang="en-US" sz="2600" b="1" dirty="0">
                <a:solidFill>
                  <a:srgbClr val="12344D"/>
                </a:solidFill>
                <a:latin typeface="Cambria" pitchFamily="34" charset="0"/>
                <a:ea typeface="Cambria" pitchFamily="34" charset="-122"/>
                <a:cs typeface="Cambria" pitchFamily="34" charset="-120"/>
              </a:rPr>
              <a:t>5,942</a:t>
            </a:r>
            <a:endParaRPr lang="en-US" sz="2600" dirty="0"/>
          </a:p>
        </p:txBody>
      </p:sp>
      <p:sp>
        <p:nvSpPr>
          <p:cNvPr id="15" name="Text 13"/>
          <p:cNvSpPr txBox="1"/>
          <p:nvPr/>
        </p:nvSpPr>
        <p:spPr>
          <a:xfrm>
            <a:off x="2606040" y="2930652"/>
            <a:ext cx="1280160" cy="422453"/>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distinct Customer IDs</a:t>
            </a:r>
            <a:endParaRPr lang="en-US" sz="1200" dirty="0"/>
          </a:p>
        </p:txBody>
      </p:sp>
      <p:sp>
        <p:nvSpPr>
          <p:cNvPr id="16" name="Stat card"/>
          <p:cNvSpPr/>
          <p:nvPr/>
        </p:nvSpPr>
        <p:spPr>
          <a:xfrm>
            <a:off x="457200" y="3520440"/>
            <a:ext cx="3520440" cy="1097280"/>
          </a:xfrm>
          <a:prstGeom prst="roundRect">
            <a:avLst>
              <a:gd name="adj" fmla="val 6667"/>
            </a:avLst>
          </a:prstGeom>
          <a:solidFill>
            <a:srgbClr val="EEF3F5"/>
          </a:solidFill>
          <a:ln w="6350">
            <a:solidFill>
              <a:srgbClr val="EEF3F5"/>
            </a:solidFill>
            <a:prstDash val="solid"/>
          </a:ln>
        </p:spPr>
      </p:sp>
      <p:sp>
        <p:nvSpPr>
          <p:cNvPr id="17" name="Text 15"/>
          <p:cNvSpPr txBox="1"/>
          <p:nvPr/>
        </p:nvSpPr>
        <p:spPr>
          <a:xfrm>
            <a:off x="548640" y="3575304"/>
            <a:ext cx="3337560" cy="603504"/>
          </a:xfrm>
          <a:prstGeom prst="rect">
            <a:avLst/>
          </a:prstGeom>
          <a:noFill/>
          <a:ln/>
        </p:spPr>
        <p:txBody>
          <a:bodyPr wrap="square" lIns="0" tIns="0" rIns="0" bIns="0" rtlCol="0" anchor="ctr"/>
          <a:lstStyle/>
          <a:p>
            <a:pPr indent="0" marL="0">
              <a:buNone/>
            </a:pPr>
            <a:r>
              <a:rPr lang="en-US" sz="2600" b="1" dirty="0">
                <a:solidFill>
                  <a:srgbClr val="D95D39"/>
                </a:solidFill>
                <a:latin typeface="Cambria" pitchFamily="34" charset="0"/>
                <a:ea typeface="Cambria" pitchFamily="34" charset="-122"/>
                <a:cs typeface="Cambria" pitchFamily="34" charset="-120"/>
              </a:rPr>
              <a:t>22.77%</a:t>
            </a:r>
            <a:endParaRPr lang="en-US" sz="2600" dirty="0"/>
          </a:p>
        </p:txBody>
      </p:sp>
      <p:sp>
        <p:nvSpPr>
          <p:cNvPr id="18" name="Text 16"/>
          <p:cNvSpPr txBox="1"/>
          <p:nvPr/>
        </p:nvSpPr>
        <p:spPr>
          <a:xfrm>
            <a:off x="548640" y="4123944"/>
            <a:ext cx="3337560" cy="460858"/>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of rows have no Customer ID (243,007); kept as unidentified sales</a:t>
            </a:r>
            <a:endParaRPr lang="en-US" sz="1200" dirty="0"/>
          </a:p>
        </p:txBody>
      </p:sp>
      <p:graphicFrame>
        <p:nvGraphicFramePr>
          <p:cNvPr id="4" name="Input facts"/>
          <p:cNvGraphicFramePr>
            <a:graphicFrameLocks noGrp="1"/>
          </p:cNvGraphicFramePr>
          <p:nvPr>
            <p:extLst>
              <p:ext uri="{D42A27DB-BD31-4B8C-83A1-F6EECF244321}">
                <p14:modId xmlns:p14="http://schemas.microsoft.com/office/powerpoint/2010/main" val="1579011935"/>
              </p:ext>
            </p:extLst>
          </p:nvPr>
        </p:nvGraphicFramePr>
        <p:xfrm>
          <a:off x="4206240" y="1234440"/>
          <a:ext cx="4480560" cy="914400"/>
        </p:xfrm>
        <a:graphic>
          <a:graphicData uri="http://schemas.openxmlformats.org/drawingml/2006/table">
            <a:tbl>
              <a:tblPr/>
              <a:tblGrid>
                <a:gridCol w="1417320"/>
                <a:gridCol w="3063240"/>
              </a:tblGrid>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Online Retail II (UCI dataset 502; Chen, 2019)</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Format and size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CSV, 94.9 MB, SHA-256 32569a66... pinned</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Grain</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One invoice line (product on an invoice)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Coverage</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1 Dec 2009 to 9 Dec 2011 (last month partial)</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Source update frequency</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None: static historical snapshot</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Pipeline schedule (PROPOSED)</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Daily 02:00 UTC if a live feed replaces it; not deployed</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2344D"/>
                          </a:solidFill>
                          <a:latin typeface="Calibri" pitchFamily="34" charset="0"/>
                          <a:ea typeface="Calibri" pitchFamily="34" charset="-122"/>
                          <a:cs typeface="Calibri" pitchFamily="34" charset="-120"/>
                        </a:rPr>
                        <a:t>Data Dictionary</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8 source fields + 7 output tables; tests enforce it matches the real schemas</a:t>
                      </a:r>
                      <a:endParaRPr lang="en-US" sz="1100" dirty="0">
                        <a:latin typeface="Calibri" charset="0"/>
                        <a:ea typeface="Calibri" charset="0"/>
                        <a:cs typeface="Calibri" charset="0"/>
                      </a:endParaRPr>
                    </a:p>
                  </a:txBody>
                  <a:tcPr marL="73152" marR="73152" marT="27432" marB="27432"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bl>
          </a:graphicData>
        </a:graphic>
      </p:graphicFrame>
      <p:sp>
        <p:nvSpPr>
          <p:cNvPr id="20"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reports/latest/source_profile.json, ingestion_manifest.json (run-001); docs/data_dictionary.yaml</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Pipeline architecture</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Sources to published analytics, with gates that can stop publication</a:t>
            </a:r>
            <a:endParaRPr lang="en-US" sz="1400" dirty="0"/>
          </a:p>
        </p:txBody>
      </p:sp>
      <p:sp>
        <p:nvSpPr>
          <p:cNvPr id="4" name="Process step"/>
          <p:cNvSpPr/>
          <p:nvPr/>
        </p:nvSpPr>
        <p:spPr>
          <a:xfrm>
            <a:off x="411480" y="1280160"/>
            <a:ext cx="1481328" cy="566928"/>
          </a:xfrm>
          <a:prstGeom prst="roundRect">
            <a:avLst>
              <a:gd name="adj" fmla="val 12903"/>
            </a:avLst>
          </a:prstGeom>
          <a:solidFill>
            <a:srgbClr val="6C7A89"/>
          </a:solidFill>
          <a:ln w="12700">
            <a:solidFill>
              <a:srgbClr val="6C7A89"/>
            </a:solidFill>
            <a:prstDash val="solid"/>
          </a:ln>
        </p:spPr>
      </p:sp>
      <p:sp>
        <p:nvSpPr>
          <p:cNvPr id="5" name="Text 3"/>
          <p:cNvSpPr txBox="1"/>
          <p:nvPr/>
        </p:nvSpPr>
        <p:spPr>
          <a:xfrm>
            <a:off x="411480"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 CSV</a:t>
            </a:r>
            <a:endParaRPr lang="en-US" sz="1200" dirty="0"/>
          </a:p>
        </p:txBody>
      </p:sp>
      <p:sp>
        <p:nvSpPr>
          <p:cNvPr id="6" name="Arrow"/>
          <p:cNvSpPr/>
          <p:nvPr/>
        </p:nvSpPr>
        <p:spPr>
          <a:xfrm>
            <a:off x="1892808" y="1563624"/>
            <a:ext cx="228600" cy="0"/>
          </a:xfrm>
          <a:prstGeom prst="line">
            <a:avLst/>
          </a:prstGeom>
          <a:noFill/>
          <a:ln w="19050">
            <a:solidFill>
              <a:srgbClr val="6C7A89"/>
            </a:solidFill>
            <a:prstDash val="solid"/>
            <a:tailEnd type="triangle"/>
          </a:ln>
        </p:spPr>
      </p:sp>
      <p:sp>
        <p:nvSpPr>
          <p:cNvPr id="7" name="Process step"/>
          <p:cNvSpPr/>
          <p:nvPr/>
        </p:nvSpPr>
        <p:spPr>
          <a:xfrm>
            <a:off x="2121408" y="1280160"/>
            <a:ext cx="1481328" cy="566928"/>
          </a:xfrm>
          <a:prstGeom prst="roundRect">
            <a:avLst>
              <a:gd name="adj" fmla="val 12903"/>
            </a:avLst>
          </a:prstGeom>
          <a:solidFill>
            <a:srgbClr val="12344D"/>
          </a:solidFill>
          <a:ln w="12700">
            <a:solidFill>
              <a:srgbClr val="12344D"/>
            </a:solidFill>
            <a:prstDash val="solid"/>
          </a:ln>
        </p:spPr>
      </p:sp>
      <p:sp>
        <p:nvSpPr>
          <p:cNvPr id="8" name="Text 6"/>
          <p:cNvSpPr txBox="1"/>
          <p:nvPr/>
        </p:nvSpPr>
        <p:spPr>
          <a:xfrm>
            <a:off x="2121408"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Ingest</a:t>
            </a:r>
            <a:endParaRPr lang="en-US" sz="1200" dirty="0"/>
          </a:p>
        </p:txBody>
      </p:sp>
      <p:sp>
        <p:nvSpPr>
          <p:cNvPr id="9" name="Arrow"/>
          <p:cNvSpPr/>
          <p:nvPr/>
        </p:nvSpPr>
        <p:spPr>
          <a:xfrm>
            <a:off x="3602736" y="1563624"/>
            <a:ext cx="228600" cy="0"/>
          </a:xfrm>
          <a:prstGeom prst="line">
            <a:avLst/>
          </a:prstGeom>
          <a:noFill/>
          <a:ln w="19050">
            <a:solidFill>
              <a:srgbClr val="6C7A89"/>
            </a:solidFill>
            <a:prstDash val="solid"/>
            <a:tailEnd type="triangle"/>
          </a:ln>
        </p:spPr>
      </p:sp>
      <p:sp>
        <p:nvSpPr>
          <p:cNvPr id="10" name="Process step"/>
          <p:cNvSpPr/>
          <p:nvPr/>
        </p:nvSpPr>
        <p:spPr>
          <a:xfrm>
            <a:off x="3831336" y="1280160"/>
            <a:ext cx="1481328" cy="566928"/>
          </a:xfrm>
          <a:prstGeom prst="roundRect">
            <a:avLst>
              <a:gd name="adj" fmla="val 12903"/>
            </a:avLst>
          </a:prstGeom>
          <a:solidFill>
            <a:srgbClr val="F2A541"/>
          </a:solidFill>
          <a:ln w="12700">
            <a:solidFill>
              <a:srgbClr val="F2A541"/>
            </a:solidFill>
            <a:prstDash val="solid"/>
          </a:ln>
        </p:spPr>
      </p:sp>
      <p:sp>
        <p:nvSpPr>
          <p:cNvPr id="11" name="Text 9"/>
          <p:cNvSpPr txBox="1"/>
          <p:nvPr/>
        </p:nvSpPr>
        <p:spPr>
          <a:xfrm>
            <a:off x="3831336"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1B2A38"/>
                </a:solidFill>
                <a:latin typeface="Calibri" pitchFamily="34" charset="0"/>
                <a:ea typeface="Calibri" pitchFamily="34" charset="-122"/>
                <a:cs typeface="Calibri" pitchFamily="34" charset="-120"/>
              </a:rPr>
              <a:t>3 Validate bronze</a:t>
            </a:r>
            <a:endParaRPr lang="en-US" sz="1200" dirty="0"/>
          </a:p>
        </p:txBody>
      </p:sp>
      <p:sp>
        <p:nvSpPr>
          <p:cNvPr id="12" name="Arrow"/>
          <p:cNvSpPr/>
          <p:nvPr/>
        </p:nvSpPr>
        <p:spPr>
          <a:xfrm>
            <a:off x="5312664" y="1563624"/>
            <a:ext cx="228600" cy="0"/>
          </a:xfrm>
          <a:prstGeom prst="line">
            <a:avLst/>
          </a:prstGeom>
          <a:noFill/>
          <a:ln w="19050">
            <a:solidFill>
              <a:srgbClr val="6C7A89"/>
            </a:solidFill>
            <a:prstDash val="solid"/>
            <a:tailEnd type="triangle"/>
          </a:ln>
        </p:spPr>
      </p:sp>
      <p:sp>
        <p:nvSpPr>
          <p:cNvPr id="13" name="Process step"/>
          <p:cNvSpPr/>
          <p:nvPr/>
        </p:nvSpPr>
        <p:spPr>
          <a:xfrm>
            <a:off x="5541264" y="1280160"/>
            <a:ext cx="1481328" cy="566928"/>
          </a:xfrm>
          <a:prstGeom prst="roundRect">
            <a:avLst>
              <a:gd name="adj" fmla="val 12903"/>
            </a:avLst>
          </a:prstGeom>
          <a:solidFill>
            <a:srgbClr val="12344D"/>
          </a:solidFill>
          <a:ln w="12700">
            <a:solidFill>
              <a:srgbClr val="12344D"/>
            </a:solidFill>
            <a:prstDash val="solid"/>
          </a:ln>
        </p:spPr>
      </p:sp>
      <p:sp>
        <p:nvSpPr>
          <p:cNvPr id="14" name="Text 12"/>
          <p:cNvSpPr txBox="1"/>
          <p:nvPr/>
        </p:nvSpPr>
        <p:spPr>
          <a:xfrm>
            <a:off x="5541264"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Clean +</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pseudonymise</a:t>
            </a:r>
            <a:endParaRPr lang="en-US" sz="1200" dirty="0"/>
          </a:p>
        </p:txBody>
      </p:sp>
      <p:sp>
        <p:nvSpPr>
          <p:cNvPr id="15" name="Arrow"/>
          <p:cNvSpPr/>
          <p:nvPr/>
        </p:nvSpPr>
        <p:spPr>
          <a:xfrm>
            <a:off x="7022592" y="1563624"/>
            <a:ext cx="228600" cy="0"/>
          </a:xfrm>
          <a:prstGeom prst="line">
            <a:avLst/>
          </a:prstGeom>
          <a:noFill/>
          <a:ln w="19050">
            <a:solidFill>
              <a:srgbClr val="6C7A89"/>
            </a:solidFill>
            <a:prstDash val="solid"/>
            <a:tailEnd type="triangle"/>
          </a:ln>
        </p:spPr>
      </p:sp>
      <p:sp>
        <p:nvSpPr>
          <p:cNvPr id="16" name="Process step"/>
          <p:cNvSpPr/>
          <p:nvPr/>
        </p:nvSpPr>
        <p:spPr>
          <a:xfrm>
            <a:off x="7251192" y="1280160"/>
            <a:ext cx="1481328" cy="566928"/>
          </a:xfrm>
          <a:prstGeom prst="roundRect">
            <a:avLst>
              <a:gd name="adj" fmla="val 12903"/>
            </a:avLst>
          </a:prstGeom>
          <a:solidFill>
            <a:srgbClr val="12344D"/>
          </a:solidFill>
          <a:ln w="12700">
            <a:solidFill>
              <a:srgbClr val="12344D"/>
            </a:solidFill>
            <a:prstDash val="solid"/>
          </a:ln>
        </p:spPr>
      </p:sp>
      <p:sp>
        <p:nvSpPr>
          <p:cNvPr id="17" name="Text 15"/>
          <p:cNvSpPr txBox="1"/>
          <p:nvPr/>
        </p:nvSpPr>
        <p:spPr>
          <a:xfrm>
            <a:off x="7251192" y="1280160"/>
            <a:ext cx="1481328" cy="566928"/>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Transform</a:t>
            </a:r>
            <a:endParaRPr lang="en-US" sz="1200" dirty="0"/>
          </a:p>
        </p:txBody>
      </p:sp>
      <p:sp>
        <p:nvSpPr>
          <p:cNvPr id="18" name="Shape 16"/>
          <p:cNvSpPr/>
          <p:nvPr/>
        </p:nvSpPr>
        <p:spPr>
          <a:xfrm>
            <a:off x="7991856" y="1847088"/>
            <a:ext cx="0" cy="301752"/>
          </a:xfrm>
          <a:prstGeom prst="line">
            <a:avLst/>
          </a:prstGeom>
          <a:noFill/>
          <a:ln w="19050">
            <a:solidFill>
              <a:srgbClr val="6C7A89"/>
            </a:solidFill>
            <a:prstDash val="solid"/>
          </a:ln>
        </p:spPr>
      </p:sp>
      <p:sp>
        <p:nvSpPr>
          <p:cNvPr id="19" name="Shape 17"/>
          <p:cNvSpPr/>
          <p:nvPr/>
        </p:nvSpPr>
        <p:spPr>
          <a:xfrm>
            <a:off x="1152144" y="2148840"/>
            <a:ext cx="6839712" cy="0"/>
          </a:xfrm>
          <a:prstGeom prst="line">
            <a:avLst/>
          </a:prstGeom>
          <a:noFill/>
          <a:ln w="19050">
            <a:solidFill>
              <a:srgbClr val="6C7A89"/>
            </a:solidFill>
            <a:prstDash val="solid"/>
          </a:ln>
        </p:spPr>
      </p:sp>
      <p:sp>
        <p:nvSpPr>
          <p:cNvPr id="20" name="Arrow"/>
          <p:cNvSpPr/>
          <p:nvPr/>
        </p:nvSpPr>
        <p:spPr>
          <a:xfrm>
            <a:off x="1152144" y="2148840"/>
            <a:ext cx="0" cy="228600"/>
          </a:xfrm>
          <a:prstGeom prst="line">
            <a:avLst/>
          </a:prstGeom>
          <a:noFill/>
          <a:ln w="19050">
            <a:solidFill>
              <a:srgbClr val="6C7A89"/>
            </a:solidFill>
            <a:prstDash val="solid"/>
            <a:tailEnd type="triangle"/>
          </a:ln>
        </p:spPr>
      </p:sp>
      <p:sp>
        <p:nvSpPr>
          <p:cNvPr id="21" name="Process step"/>
          <p:cNvSpPr/>
          <p:nvPr/>
        </p:nvSpPr>
        <p:spPr>
          <a:xfrm>
            <a:off x="411480" y="2377440"/>
            <a:ext cx="1481328" cy="658368"/>
          </a:xfrm>
          <a:prstGeom prst="roundRect">
            <a:avLst>
              <a:gd name="adj" fmla="val 11111"/>
            </a:avLst>
          </a:prstGeom>
          <a:solidFill>
            <a:srgbClr val="12344D"/>
          </a:solidFill>
          <a:ln w="12700">
            <a:solidFill>
              <a:srgbClr val="12344D"/>
            </a:solidFill>
            <a:prstDash val="solid"/>
          </a:ln>
        </p:spPr>
      </p:sp>
      <p:sp>
        <p:nvSpPr>
          <p:cNvPr id="22" name="Text 20"/>
          <p:cNvSpPr txBox="1"/>
          <p:nvPr/>
        </p:nvSpPr>
        <p:spPr>
          <a:xfrm>
            <a:off x="411480"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Integrate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(fact, dims, aggregates)</a:t>
            </a:r>
            <a:endParaRPr lang="en-US" sz="1100" dirty="0"/>
          </a:p>
        </p:txBody>
      </p:sp>
      <p:sp>
        <p:nvSpPr>
          <p:cNvPr id="23" name="Arrow"/>
          <p:cNvSpPr/>
          <p:nvPr/>
        </p:nvSpPr>
        <p:spPr>
          <a:xfrm>
            <a:off x="1892808" y="2706624"/>
            <a:ext cx="228600" cy="0"/>
          </a:xfrm>
          <a:prstGeom prst="line">
            <a:avLst/>
          </a:prstGeom>
          <a:noFill/>
          <a:ln w="19050">
            <a:solidFill>
              <a:srgbClr val="6C7A89"/>
            </a:solidFill>
            <a:prstDash val="solid"/>
            <a:tailEnd type="triangle"/>
          </a:ln>
        </p:spPr>
      </p:sp>
      <p:sp>
        <p:nvSpPr>
          <p:cNvPr id="24" name="Process step"/>
          <p:cNvSpPr/>
          <p:nvPr/>
        </p:nvSpPr>
        <p:spPr>
          <a:xfrm>
            <a:off x="2121408" y="2377440"/>
            <a:ext cx="1481328" cy="658368"/>
          </a:xfrm>
          <a:prstGeom prst="roundRect">
            <a:avLst>
              <a:gd name="adj" fmla="val 11111"/>
            </a:avLst>
          </a:prstGeom>
          <a:solidFill>
            <a:srgbClr val="F2A541"/>
          </a:solidFill>
          <a:ln w="12700">
            <a:solidFill>
              <a:srgbClr val="F2A541"/>
            </a:solidFill>
            <a:prstDash val="solid"/>
          </a:ln>
        </p:spPr>
      </p:sp>
      <p:sp>
        <p:nvSpPr>
          <p:cNvPr id="25" name="Text 23"/>
          <p:cNvSpPr txBox="1"/>
          <p:nvPr/>
        </p:nvSpPr>
        <p:spPr>
          <a:xfrm>
            <a:off x="2121408"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1B2A38"/>
                </a:solidFill>
                <a:latin typeface="Calibri" pitchFamily="34" charset="0"/>
                <a:ea typeface="Calibri" pitchFamily="34" charset="-122"/>
                <a:cs typeface="Calibri" pitchFamily="34" charset="-120"/>
              </a:rPr>
              <a:t>7 Validate outputs</a:t>
            </a:r>
            <a:endParaRPr lang="en-US" sz="1100" dirty="0"/>
          </a:p>
          <a:p>
            <a:pPr algn="ctr" indent="0" marL="0">
              <a:buNone/>
            </a:pPr>
            <a:r>
              <a:rPr lang="en-US" sz="1100" b="1" dirty="0">
                <a:solidFill>
                  <a:srgbClr val="1B2A38"/>
                </a:solidFill>
                <a:latin typeface="Calibri" pitchFamily="34" charset="0"/>
                <a:ea typeface="Calibri" pitchFamily="34" charset="-122"/>
                <a:cs typeface="Calibri" pitchFamily="34" charset="-120"/>
              </a:rPr>
              <a:t>(Great Expectations)</a:t>
            </a:r>
            <a:endParaRPr lang="en-US" sz="1100" dirty="0"/>
          </a:p>
        </p:txBody>
      </p:sp>
      <p:sp>
        <p:nvSpPr>
          <p:cNvPr id="26" name="Arrow"/>
          <p:cNvSpPr/>
          <p:nvPr/>
        </p:nvSpPr>
        <p:spPr>
          <a:xfrm>
            <a:off x="3602736" y="2706624"/>
            <a:ext cx="228600" cy="0"/>
          </a:xfrm>
          <a:prstGeom prst="line">
            <a:avLst/>
          </a:prstGeom>
          <a:noFill/>
          <a:ln w="19050">
            <a:solidFill>
              <a:srgbClr val="6C7A89"/>
            </a:solidFill>
            <a:prstDash val="solid"/>
            <a:tailEnd type="triangle"/>
          </a:ln>
        </p:spPr>
      </p:sp>
      <p:sp>
        <p:nvSpPr>
          <p:cNvPr id="27" name="Process step"/>
          <p:cNvSpPr/>
          <p:nvPr/>
        </p:nvSpPr>
        <p:spPr>
          <a:xfrm>
            <a:off x="3831336" y="2377440"/>
            <a:ext cx="1481328" cy="658368"/>
          </a:xfrm>
          <a:prstGeom prst="roundRect">
            <a:avLst>
              <a:gd name="adj" fmla="val 11111"/>
            </a:avLst>
          </a:prstGeom>
          <a:solidFill>
            <a:srgbClr val="F2A541"/>
          </a:solidFill>
          <a:ln w="12700">
            <a:solidFill>
              <a:srgbClr val="F2A541"/>
            </a:solidFill>
            <a:prstDash val="solid"/>
          </a:ln>
        </p:spPr>
      </p:sp>
      <p:sp>
        <p:nvSpPr>
          <p:cNvPr id="28" name="Text 26"/>
          <p:cNvSpPr txBox="1"/>
          <p:nvPr/>
        </p:nvSpPr>
        <p:spPr>
          <a:xfrm>
            <a:off x="3831336"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1B2A38"/>
                </a:solidFill>
                <a:latin typeface="Calibri" pitchFamily="34" charset="0"/>
                <a:ea typeface="Calibri" pitchFamily="34" charset="-122"/>
                <a:cs typeface="Calibri" pitchFamily="34" charset="-120"/>
              </a:rPr>
              <a:t>10 Publish gate</a:t>
            </a:r>
            <a:endParaRPr lang="en-US" sz="1100" dirty="0"/>
          </a:p>
          <a:p>
            <a:pPr algn="ctr" indent="0" marL="0">
              <a:buNone/>
            </a:pPr>
            <a:r>
              <a:rPr lang="en-US" sz="1100" b="1" dirty="0">
                <a:solidFill>
                  <a:srgbClr val="1B2A38"/>
                </a:solidFill>
                <a:latin typeface="Calibri" pitchFamily="34" charset="0"/>
                <a:ea typeface="Calibri" pitchFamily="34" charset="-122"/>
                <a:cs typeface="Calibri" pitchFamily="34" charset="-120"/>
              </a:rPr>
              <a:t>(atomic)</a:t>
            </a:r>
            <a:endParaRPr lang="en-US" sz="1100" dirty="0"/>
          </a:p>
        </p:txBody>
      </p:sp>
      <p:sp>
        <p:nvSpPr>
          <p:cNvPr id="29" name="Arrow"/>
          <p:cNvSpPr/>
          <p:nvPr/>
        </p:nvSpPr>
        <p:spPr>
          <a:xfrm>
            <a:off x="5312664" y="2706624"/>
            <a:ext cx="228600" cy="0"/>
          </a:xfrm>
          <a:prstGeom prst="line">
            <a:avLst/>
          </a:prstGeom>
          <a:noFill/>
          <a:ln w="19050">
            <a:solidFill>
              <a:srgbClr val="6C7A89"/>
            </a:solidFill>
            <a:prstDash val="solid"/>
            <a:tailEnd type="triangle"/>
          </a:ln>
        </p:spPr>
      </p:sp>
      <p:sp>
        <p:nvSpPr>
          <p:cNvPr id="30" name="Process step"/>
          <p:cNvSpPr/>
          <p:nvPr/>
        </p:nvSpPr>
        <p:spPr>
          <a:xfrm>
            <a:off x="5541264" y="2377440"/>
            <a:ext cx="1481328" cy="658368"/>
          </a:xfrm>
          <a:prstGeom prst="roundRect">
            <a:avLst>
              <a:gd name="adj" fmla="val 11111"/>
            </a:avLst>
          </a:prstGeom>
          <a:solidFill>
            <a:srgbClr val="2E8B57"/>
          </a:solidFill>
          <a:ln w="12700">
            <a:solidFill>
              <a:srgbClr val="2E8B57"/>
            </a:solidFill>
            <a:prstDash val="solid"/>
          </a:ln>
        </p:spPr>
      </p:sp>
      <p:sp>
        <p:nvSpPr>
          <p:cNvPr id="31" name="Text 29"/>
          <p:cNvSpPr txBox="1"/>
          <p:nvPr/>
        </p:nvSpPr>
        <p:spPr>
          <a:xfrm>
            <a:off x="5541264" y="2377440"/>
            <a:ext cx="1481328" cy="658368"/>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Published Parquet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manifest</a:t>
            </a:r>
            <a:endParaRPr lang="en-US" sz="1100" dirty="0"/>
          </a:p>
        </p:txBody>
      </p:sp>
      <p:sp>
        <p:nvSpPr>
          <p:cNvPr id="32" name="Process step"/>
          <p:cNvSpPr/>
          <p:nvPr/>
        </p:nvSpPr>
        <p:spPr>
          <a:xfrm>
            <a:off x="2121408" y="3520440"/>
            <a:ext cx="1481328" cy="566928"/>
          </a:xfrm>
          <a:prstGeom prst="roundRect">
            <a:avLst>
              <a:gd name="adj" fmla="val 12903"/>
            </a:avLst>
          </a:prstGeom>
          <a:solidFill>
            <a:srgbClr val="FFFFFF"/>
          </a:solidFill>
          <a:ln w="12700">
            <a:solidFill>
              <a:srgbClr val="1C7C7D"/>
            </a:solidFill>
            <a:prstDash val="dash"/>
          </a:ln>
        </p:spPr>
      </p:sp>
      <p:sp>
        <p:nvSpPr>
          <p:cNvPr id="33" name="Text 31"/>
          <p:cNvSpPr txBox="1"/>
          <p:nvPr/>
        </p:nvSpPr>
        <p:spPr>
          <a:xfrm>
            <a:off x="2121408"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2 Profile source</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(branch of 1)</a:t>
            </a:r>
            <a:endParaRPr lang="en-US" sz="1100" dirty="0"/>
          </a:p>
        </p:txBody>
      </p:sp>
      <p:sp>
        <p:nvSpPr>
          <p:cNvPr id="34" name="Process step"/>
          <p:cNvSpPr/>
          <p:nvPr/>
        </p:nvSpPr>
        <p:spPr>
          <a:xfrm>
            <a:off x="3831336" y="3520440"/>
            <a:ext cx="1481328" cy="566928"/>
          </a:xfrm>
          <a:prstGeom prst="roundRect">
            <a:avLst>
              <a:gd name="adj" fmla="val 12903"/>
            </a:avLst>
          </a:prstGeom>
          <a:solidFill>
            <a:srgbClr val="FFFFFF"/>
          </a:solidFill>
          <a:ln w="12700">
            <a:solidFill>
              <a:srgbClr val="1C7C7D"/>
            </a:solidFill>
            <a:prstDash val="dash"/>
          </a:ln>
        </p:spPr>
      </p:sp>
      <p:sp>
        <p:nvSpPr>
          <p:cNvPr id="35" name="Text 33"/>
          <p:cNvSpPr txBox="1"/>
          <p:nvPr/>
        </p:nvSpPr>
        <p:spPr>
          <a:xfrm>
            <a:off x="3831336"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8 Bias detection</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(branch of 6)</a:t>
            </a:r>
            <a:endParaRPr lang="en-US" sz="1100" dirty="0"/>
          </a:p>
        </p:txBody>
      </p:sp>
      <p:sp>
        <p:nvSpPr>
          <p:cNvPr id="36" name="Process step"/>
          <p:cNvSpPr/>
          <p:nvPr/>
        </p:nvSpPr>
        <p:spPr>
          <a:xfrm>
            <a:off x="5541264" y="3520440"/>
            <a:ext cx="1481328" cy="566928"/>
          </a:xfrm>
          <a:prstGeom prst="roundRect">
            <a:avLst>
              <a:gd name="adj" fmla="val 12903"/>
            </a:avLst>
          </a:prstGeom>
          <a:solidFill>
            <a:srgbClr val="FFFFFF"/>
          </a:solidFill>
          <a:ln w="12700">
            <a:solidFill>
              <a:srgbClr val="1C7C7D"/>
            </a:solidFill>
            <a:prstDash val="dash"/>
          </a:ln>
        </p:spPr>
      </p:sp>
      <p:sp>
        <p:nvSpPr>
          <p:cNvPr id="37" name="Text 35"/>
          <p:cNvSpPr txBox="1"/>
          <p:nvPr/>
        </p:nvSpPr>
        <p:spPr>
          <a:xfrm>
            <a:off x="5541264"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9 Privacy scan</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(branch of 6; PII gate)</a:t>
            </a:r>
            <a:endParaRPr lang="en-US" sz="1100" dirty="0"/>
          </a:p>
        </p:txBody>
      </p:sp>
      <p:sp>
        <p:nvSpPr>
          <p:cNvPr id="38" name="Process step"/>
          <p:cNvSpPr/>
          <p:nvPr/>
        </p:nvSpPr>
        <p:spPr>
          <a:xfrm>
            <a:off x="7251192" y="3520440"/>
            <a:ext cx="1481328" cy="566928"/>
          </a:xfrm>
          <a:prstGeom prst="roundRect">
            <a:avLst>
              <a:gd name="adj" fmla="val 12903"/>
            </a:avLst>
          </a:prstGeom>
          <a:solidFill>
            <a:srgbClr val="FFFFFF"/>
          </a:solidFill>
          <a:ln w="12700">
            <a:solidFill>
              <a:srgbClr val="1C7C7D"/>
            </a:solidFill>
            <a:prstDash val="dash"/>
          </a:ln>
        </p:spPr>
      </p:sp>
      <p:sp>
        <p:nvSpPr>
          <p:cNvPr id="39" name="Text 37"/>
          <p:cNvSpPr txBox="1"/>
          <p:nvPr/>
        </p:nvSpPr>
        <p:spPr>
          <a:xfrm>
            <a:off x="7251192" y="3520440"/>
            <a:ext cx="1481328" cy="566928"/>
          </a:xfrm>
          <a:prstGeom prst="rect">
            <a:avLst/>
          </a:prstGeom>
          <a:noFill/>
          <a:ln/>
        </p:spPr>
        <p:txBody>
          <a:bodyPr wrap="square" lIns="508" tIns="508" rIns="508" bIns="508" rtlCol="0" anchor="ctr"/>
          <a:lstStyle/>
          <a:p>
            <a:pPr algn="ctr" indent="0" marL="0">
              <a:buNone/>
            </a:pPr>
            <a:r>
              <a:rPr lang="en-US" sz="1100" b="1" dirty="0">
                <a:solidFill>
                  <a:srgbClr val="1C7C7D"/>
                </a:solidFill>
                <a:latin typeface="Calibri" pitchFamily="34" charset="0"/>
                <a:ea typeface="Calibri" pitchFamily="34" charset="-122"/>
                <a:cs typeface="Calibri" pitchFamily="34" charset="-120"/>
              </a:rPr>
              <a:t>11 Evidence +</a:t>
            </a:r>
            <a:endParaRPr lang="en-US" sz="1100" dirty="0"/>
          </a:p>
          <a:p>
            <a:pPr algn="ctr" indent="0" marL="0">
              <a:buNone/>
            </a:pPr>
            <a:r>
              <a:rPr lang="en-US" sz="1100" b="1" dirty="0">
                <a:solidFill>
                  <a:srgbClr val="1C7C7D"/>
                </a:solidFill>
                <a:latin typeface="Calibri" pitchFamily="34" charset="0"/>
                <a:ea typeface="Calibri" pitchFamily="34" charset="-122"/>
                <a:cs typeface="Calibri" pitchFamily="34" charset="-120"/>
              </a:rPr>
              <a:t>audit log</a:t>
            </a:r>
            <a:endParaRPr lang="en-US" sz="1100" dirty="0"/>
          </a:p>
        </p:txBody>
      </p:sp>
      <p:sp>
        <p:nvSpPr>
          <p:cNvPr id="40" name="Shape 38"/>
          <p:cNvSpPr/>
          <p:nvPr/>
        </p:nvSpPr>
        <p:spPr>
          <a:xfrm>
            <a:off x="457200" y="4297680"/>
            <a:ext cx="182880" cy="182880"/>
          </a:xfrm>
          <a:prstGeom prst="roundRect">
            <a:avLst>
              <a:gd name="adj" fmla="val 15000"/>
            </a:avLst>
          </a:prstGeom>
          <a:solidFill>
            <a:srgbClr val="12344D"/>
          </a:solidFill>
          <a:ln w="12700">
            <a:solidFill>
              <a:srgbClr val="12344D"/>
            </a:solidFill>
            <a:prstDash val="solid"/>
          </a:ln>
        </p:spPr>
      </p:sp>
      <p:sp>
        <p:nvSpPr>
          <p:cNvPr id="41" name="Text 39"/>
          <p:cNvSpPr txBox="1"/>
          <p:nvPr/>
        </p:nvSpPr>
        <p:spPr>
          <a:xfrm>
            <a:off x="70408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Processing</a:t>
            </a:r>
            <a:endParaRPr lang="en-US" sz="1100" dirty="0"/>
          </a:p>
        </p:txBody>
      </p:sp>
      <p:sp>
        <p:nvSpPr>
          <p:cNvPr id="42" name="Shape 40"/>
          <p:cNvSpPr/>
          <p:nvPr/>
        </p:nvSpPr>
        <p:spPr>
          <a:xfrm>
            <a:off x="1645920" y="4297680"/>
            <a:ext cx="182880" cy="182880"/>
          </a:xfrm>
          <a:prstGeom prst="roundRect">
            <a:avLst>
              <a:gd name="adj" fmla="val 15000"/>
            </a:avLst>
          </a:prstGeom>
          <a:solidFill>
            <a:srgbClr val="F2A541"/>
          </a:solidFill>
          <a:ln w="12700">
            <a:solidFill>
              <a:srgbClr val="F2A541"/>
            </a:solidFill>
            <a:prstDash val="solid"/>
          </a:ln>
        </p:spPr>
      </p:sp>
      <p:sp>
        <p:nvSpPr>
          <p:cNvPr id="43" name="Text 41"/>
          <p:cNvSpPr txBox="1"/>
          <p:nvPr/>
        </p:nvSpPr>
        <p:spPr>
          <a:xfrm>
            <a:off x="189280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Gate (blocks on critical failure)</a:t>
            </a:r>
            <a:endParaRPr lang="en-US" sz="1100" dirty="0"/>
          </a:p>
        </p:txBody>
      </p:sp>
      <p:sp>
        <p:nvSpPr>
          <p:cNvPr id="44" name="Shape 42"/>
          <p:cNvSpPr/>
          <p:nvPr/>
        </p:nvSpPr>
        <p:spPr>
          <a:xfrm>
            <a:off x="4297680" y="4297680"/>
            <a:ext cx="182880" cy="182880"/>
          </a:xfrm>
          <a:prstGeom prst="roundRect">
            <a:avLst>
              <a:gd name="adj" fmla="val 15000"/>
            </a:avLst>
          </a:prstGeom>
          <a:solidFill>
            <a:srgbClr val="1C7C7D"/>
          </a:solidFill>
          <a:ln w="12700">
            <a:solidFill>
              <a:srgbClr val="1C7C7D"/>
            </a:solidFill>
            <a:prstDash val="solid"/>
          </a:ln>
        </p:spPr>
      </p:sp>
      <p:sp>
        <p:nvSpPr>
          <p:cNvPr id="45" name="Text 43"/>
          <p:cNvSpPr txBox="1"/>
          <p:nvPr/>
        </p:nvSpPr>
        <p:spPr>
          <a:xfrm>
            <a:off x="454456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Governance branch</a:t>
            </a:r>
            <a:endParaRPr lang="en-US" sz="1100" dirty="0"/>
          </a:p>
        </p:txBody>
      </p:sp>
      <p:sp>
        <p:nvSpPr>
          <p:cNvPr id="46" name="Shape 44"/>
          <p:cNvSpPr/>
          <p:nvPr/>
        </p:nvSpPr>
        <p:spPr>
          <a:xfrm>
            <a:off x="6126480" y="4297680"/>
            <a:ext cx="182880" cy="182880"/>
          </a:xfrm>
          <a:prstGeom prst="roundRect">
            <a:avLst>
              <a:gd name="adj" fmla="val 15000"/>
            </a:avLst>
          </a:prstGeom>
          <a:solidFill>
            <a:srgbClr val="2E8B57"/>
          </a:solidFill>
          <a:ln w="12700">
            <a:solidFill>
              <a:srgbClr val="2E8B57"/>
            </a:solidFill>
            <a:prstDash val="solid"/>
          </a:ln>
        </p:spPr>
      </p:sp>
      <p:sp>
        <p:nvSpPr>
          <p:cNvPr id="47" name="Text 45"/>
          <p:cNvSpPr txBox="1"/>
          <p:nvPr/>
        </p:nvSpPr>
        <p:spPr>
          <a:xfrm>
            <a:off x="6373368" y="4251960"/>
            <a:ext cx="2468880" cy="27432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Output</a:t>
            </a:r>
            <a:endParaRPr lang="en-US" sz="1100" dirty="0"/>
          </a:p>
        </p:txBody>
      </p:sp>
      <p:sp>
        <p:nvSpPr>
          <p:cNvPr id="48" name="Text 46"/>
          <p:cNvSpPr txBox="1"/>
          <p:nvPr/>
        </p:nvSpPr>
        <p:spPr>
          <a:xfrm>
            <a:off x="457200" y="4553712"/>
            <a:ext cx="8229600" cy="256032"/>
          </a:xfrm>
          <a:prstGeom prst="rect">
            <a:avLst/>
          </a:prstGeom>
          <a:noFill/>
          <a:ln/>
        </p:spPr>
        <p:txBody>
          <a:bodyPr wrap="square" lIns="0" tIns="0" rIns="0" bIns="0"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Module 2 mapping (proposed production): ADLS zones, ADF activities, Key Vault, Power BI</a:t>
            </a:r>
            <a:endParaRPr lang="en-US" sz="1100" dirty="0"/>
          </a:p>
        </p:txBody>
      </p:sp>
      <p:sp>
        <p:nvSpPr>
          <p:cNvPr id="49"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src/retail_pipeline/flow.py; docs/architecture.md</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Ingestion and source profiling</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Raw data stays untouched; rules come from measured findings</a:t>
            </a:r>
            <a:endParaRPr lang="en-US" sz="1400" dirty="0"/>
          </a:p>
        </p:txBody>
      </p:sp>
      <p:sp>
        <p:nvSpPr>
          <p:cNvPr id="4" name="Provenance card"/>
          <p:cNvSpPr/>
          <p:nvPr/>
        </p:nvSpPr>
        <p:spPr>
          <a:xfrm>
            <a:off x="457200" y="1234440"/>
            <a:ext cx="3108960" cy="2331720"/>
          </a:xfrm>
          <a:prstGeom prst="roundRect">
            <a:avLst>
              <a:gd name="adj" fmla="val 3137"/>
            </a:avLst>
          </a:prstGeom>
          <a:solidFill>
            <a:srgbClr val="EEF3F5"/>
          </a:solidFill>
          <a:ln w="6350">
            <a:solidFill>
              <a:srgbClr val="EEF3F5"/>
            </a:solidFill>
            <a:prstDash val="solid"/>
          </a:ln>
        </p:spPr>
      </p:sp>
      <p:sp>
        <p:nvSpPr>
          <p:cNvPr id="5" name="Text 3"/>
          <p:cNvSpPr txBox="1"/>
          <p:nvPr/>
        </p:nvSpPr>
        <p:spPr>
          <a:xfrm>
            <a:off x="594360" y="1298448"/>
            <a:ext cx="2834640" cy="27432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Provenance (implemented)</a:t>
            </a:r>
            <a:endParaRPr lang="en-US" sz="1400" dirty="0"/>
          </a:p>
        </p:txBody>
      </p:sp>
      <p:sp>
        <p:nvSpPr>
          <p:cNvPr id="6" name="Text 4"/>
          <p:cNvSpPr txBox="1"/>
          <p:nvPr/>
        </p:nvSpPr>
        <p:spPr>
          <a:xfrm>
            <a:off x="594360" y="1627632"/>
            <a:ext cx="2880360" cy="18745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Raw CSV made read-only; SHA-256 pinned</a:t>
            </a:r>
            <a:endParaRPr lang="en-US" sz="1200" dirty="0"/>
          </a:p>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Bronze: all-text Parquet + row id, content-addressed</a:t>
            </a:r>
            <a:endParaRPr lang="en-US" sz="1200" dirty="0"/>
          </a:p>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0 parse failures in Quantity, Price, date, ID</a:t>
            </a:r>
            <a:endParaRPr lang="en-US" sz="1200" dirty="0"/>
          </a:p>
          <a:p>
            <a:pPr marL="342900" indent="-342900">
              <a:spcAft>
                <a:spcPts val="500"/>
              </a:spcAft>
              <a:buSzPct val="100000"/>
              <a:buChar char="•"/>
            </a:pPr>
            <a:r>
              <a:rPr lang="en-US" sz="1200" dirty="0">
                <a:solidFill>
                  <a:srgbClr val="1B2A38"/>
                </a:solidFill>
                <a:latin typeface="Calibri" pitchFamily="34" charset="0"/>
                <a:ea typeface="Calibri" pitchFamily="34" charset="-122"/>
                <a:cs typeface="Calibri" pitchFamily="34" charset="-120"/>
              </a:rPr>
              <a:t>Run id, rules hash and code hash recorded</a:t>
            </a:r>
            <a:endParaRPr lang="en-US" sz="1200" dirty="0"/>
          </a:p>
        </p:txBody>
      </p:sp>
      <p:sp>
        <p:nvSpPr>
          <p:cNvPr id="7" name="Callout"/>
          <p:cNvSpPr/>
          <p:nvPr/>
        </p:nvSpPr>
        <p:spPr>
          <a:xfrm>
            <a:off x="457200" y="3703320"/>
            <a:ext cx="3108960" cy="960120"/>
          </a:xfrm>
          <a:prstGeom prst="roundRect">
            <a:avLst>
              <a:gd name="adj" fmla="val 7619"/>
            </a:avLst>
          </a:prstGeom>
          <a:solidFill>
            <a:srgbClr val="FFF3DC"/>
          </a:solidFill>
          <a:ln w="12700">
            <a:solidFill>
              <a:srgbClr val="F2A541"/>
            </a:solidFill>
            <a:prstDash val="solid"/>
          </a:ln>
        </p:spPr>
      </p:sp>
      <p:sp>
        <p:nvSpPr>
          <p:cNvPr id="8" name="Text 6"/>
          <p:cNvSpPr txBox="1"/>
          <p:nvPr/>
        </p:nvSpPr>
        <p:spPr>
          <a:xfrm>
            <a:off x="548640" y="3749040"/>
            <a:ext cx="2926080" cy="868680"/>
          </a:xfrm>
          <a:prstGeom prst="rect">
            <a:avLst/>
          </a:prstGeom>
          <a:noFill/>
          <a:ln/>
        </p:spPr>
        <p:txBody>
          <a:bodyPr wrap="square" lIns="0" tIns="0" rIns="0" bIns="0" rtlCol="0" anchor="ctr"/>
          <a:lstStyle/>
          <a:p>
            <a:pPr indent="0" marL="0">
              <a:buNone/>
            </a:pPr>
            <a:r>
              <a:rPr lang="en-US" sz="1200" b="1" dirty="0">
                <a:solidFill>
                  <a:srgbClr val="1B2A38"/>
                </a:solidFill>
                <a:latin typeface="Calibri" pitchFamily="34" charset="0"/>
                <a:ea typeface="Calibri" pitchFamily="34" charset="-122"/>
                <a:cs typeface="Calibri" pitchFamily="34" charset="-120"/>
              </a:rPr>
              <a:t>Overlap verified, not assumed. </a:t>
            </a:r>
            <a:pPr indent="0" marL="0">
              <a:buNone/>
            </a:pPr>
            <a:r>
              <a:rPr lang="en-US" sz="1200" dirty="0">
                <a:solidFill>
                  <a:srgbClr val="1B2A38"/>
                </a:solidFill>
                <a:latin typeface="Calibri" pitchFamily="34" charset="0"/>
                <a:ea typeface="Calibri" pitchFamily="34" charset="-122"/>
                <a:cs typeface="Calibri" pitchFamily="34" charset="-120"/>
              </a:rPr>
              <a:t>22,523 rows (1,088 invoices) in 1-9 Dec 2010 are identical in both source blocks.</a:t>
            </a:r>
            <a:endParaRPr lang="en-US" sz="1200" dirty="0"/>
          </a:p>
        </p:txBody>
      </p:sp>
      <p:graphicFrame>
        <p:nvGraphicFramePr>
          <p:cNvPr id="9" name="Chart 0" descr=""/>
          <p:cNvGraphicFramePr/>
          <p:nvPr/>
        </p:nvGraphicFramePr>
        <p:xfrm>
          <a:off x="3749040" y="1188720"/>
          <a:ext cx="4983480" cy="3520440"/>
        </p:xfrm>
        <a:graphic xmlns:a="http://schemas.openxmlformats.org/drawingml/2006/main">
          <a:graphicData uri="http://schemas.openxmlformats.org/drawingml/2006/chart">
            <c:chart xmlns:c="http://schemas.openxmlformats.org/drawingml/2006/chart" r:id="rId1"/>
          </a:graphicData>
        </a:graphic>
      </p:graphicFrame>
      <p:sp>
        <p:nvSpPr>
          <p:cNvPr id="10"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reports/latest/source_profile.json, cleaning_summary.json (run-001); categories overlap, do not add</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Cleaning and transformation</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Every raw row gets one disposition and a reason code</a:t>
            </a:r>
            <a:endParaRPr lang="en-US" sz="1400" dirty="0"/>
          </a:p>
        </p:txBody>
      </p:sp>
      <p:sp>
        <p:nvSpPr>
          <p:cNvPr id="4" name="Stat card"/>
          <p:cNvSpPr/>
          <p:nvPr/>
        </p:nvSpPr>
        <p:spPr>
          <a:xfrm>
            <a:off x="457200" y="1234440"/>
            <a:ext cx="2377440" cy="1051560"/>
          </a:xfrm>
          <a:prstGeom prst="roundRect">
            <a:avLst>
              <a:gd name="adj" fmla="val 6957"/>
            </a:avLst>
          </a:prstGeom>
          <a:solidFill>
            <a:srgbClr val="EEF3F5"/>
          </a:solidFill>
          <a:ln w="6350">
            <a:solidFill>
              <a:srgbClr val="EEF3F5"/>
            </a:solidFill>
            <a:prstDash val="solid"/>
          </a:ln>
        </p:spPr>
      </p:sp>
      <p:sp>
        <p:nvSpPr>
          <p:cNvPr id="5" name="Text 3"/>
          <p:cNvSpPr txBox="1"/>
          <p:nvPr/>
        </p:nvSpPr>
        <p:spPr>
          <a:xfrm>
            <a:off x="548640" y="1289304"/>
            <a:ext cx="2194560" cy="578358"/>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96.79%</a:t>
            </a:r>
            <a:endParaRPr lang="en-US" sz="2600" dirty="0"/>
          </a:p>
        </p:txBody>
      </p:sp>
      <p:sp>
        <p:nvSpPr>
          <p:cNvPr id="6" name="Text 4"/>
          <p:cNvSpPr txBox="1"/>
          <p:nvPr/>
        </p:nvSpPr>
        <p:spPr>
          <a:xfrm>
            <a:off x="548640" y="1812798"/>
            <a:ext cx="2194560" cy="441655"/>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retained: 1,033,062 lines</a:t>
            </a:r>
            <a:endParaRPr lang="en-US" sz="1200" dirty="0"/>
          </a:p>
        </p:txBody>
      </p:sp>
      <p:graphicFrame>
        <p:nvGraphicFramePr>
          <p:cNvPr id="7" name="Chart 0" descr=""/>
          <p:cNvGraphicFramePr/>
          <p:nvPr/>
        </p:nvGraphicFramePr>
        <p:xfrm>
          <a:off x="365760" y="2331720"/>
          <a:ext cx="411480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leaning rules"/>
          <p:cNvGraphicFramePr>
            <a:graphicFrameLocks noGrp="1"/>
          </p:cNvGraphicFramePr>
          <p:nvPr>
            <p:extLst>
              <p:ext uri="{D42A27DB-BD31-4B8C-83A1-F6EECF244321}">
                <p14:modId xmlns:p14="http://schemas.microsoft.com/office/powerpoint/2010/main" val="1579011935"/>
              </p:ext>
            </p:extLst>
          </p:nvPr>
        </p:nvGraphicFramePr>
        <p:xfrm>
          <a:off x="4663440" y="1234440"/>
          <a:ext cx="4023360" cy="914400"/>
        </p:xfrm>
        <a:graphic>
          <a:graphicData uri="http://schemas.openxmlformats.org/drawingml/2006/table">
            <a:tbl>
              <a:tblPr/>
              <a:tblGrid>
                <a:gridCol w="1920240"/>
                <a:gridCol w="2103120"/>
              </a:tblGrid>
              <a:tr h="3931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Evidence-based handling</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Verified overlap</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Drop 2nd copy only if blocks match exactly</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Ledger codes (POST, M, fees, vouchers)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Excluded from product analytics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Negative qty on non-C invoice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Quarantine as stock adjustment</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Zero price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Quarantine (no revenue)</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Cancellation 'C' with negative qty</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Retained: 17,974 valid return lines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Exact duplicates in one block</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Retained and flagged (11,790)</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393192">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Missing Customer ID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Retained as unidentified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bl>
          </a:graphicData>
        </a:graphic>
      </p:graphicFrame>
      <p:sp>
        <p:nvSpPr>
          <p:cNvPr id="9" name="Shape 5"/>
          <p:cNvSpPr/>
          <p:nvPr/>
        </p:nvSpPr>
        <p:spPr>
          <a:xfrm>
            <a:off x="2971800" y="1234440"/>
            <a:ext cx="1508760" cy="1051560"/>
          </a:xfrm>
          <a:prstGeom prst="roundRect">
            <a:avLst>
              <a:gd name="adj" fmla="val 6957"/>
            </a:avLst>
          </a:prstGeom>
          <a:solidFill>
            <a:srgbClr val="EEF3F5"/>
          </a:solidFill>
          <a:ln w="12700">
            <a:solidFill>
              <a:srgbClr val="EEF3F5"/>
            </a:solidFill>
            <a:prstDash val="solid"/>
          </a:ln>
        </p:spPr>
      </p:sp>
      <p:sp>
        <p:nvSpPr>
          <p:cNvPr id="10" name="Text 6"/>
          <p:cNvSpPr txBox="1"/>
          <p:nvPr/>
        </p:nvSpPr>
        <p:spPr>
          <a:xfrm>
            <a:off x="3035808" y="1261872"/>
            <a:ext cx="1417320" cy="1005840"/>
          </a:xfrm>
          <a:prstGeom prst="rect">
            <a:avLst/>
          </a:prstGeom>
          <a:noFill/>
          <a:ln/>
        </p:spPr>
        <p:txBody>
          <a:bodyPr wrap="square" lIns="0" tIns="0" rIns="0" bIns="0" rtlCol="0" anchor="ctr"/>
          <a:lstStyle/>
          <a:p>
            <a:pPr indent="0" marL="0">
              <a:buNone/>
            </a:pPr>
            <a:r>
              <a:rPr lang="en-US" sz="1100" b="1" dirty="0">
                <a:solidFill>
                  <a:srgbClr val="12344D"/>
                </a:solidFill>
                <a:latin typeface="Calibri" pitchFamily="34" charset="0"/>
                <a:ea typeface="Calibri" pitchFamily="34" charset="-122"/>
                <a:cs typeface="Calibri" pitchFamily="34" charset="-120"/>
              </a:rPr>
              <a:t>Business logic</a:t>
            </a:r>
            <a:endParaRPr lang="en-US" sz="1100" dirty="0"/>
          </a:p>
          <a:p>
            <a:pPr indent="0" marL="0">
              <a:buNone/>
            </a:pPr>
            <a:r>
              <a:rPr lang="en-US" sz="1100" dirty="0">
                <a:solidFill>
                  <a:srgbClr val="1B2A38"/>
                </a:solidFill>
                <a:latin typeface="Calibri" pitchFamily="34" charset="0"/>
                <a:ea typeface="Calibri" pitchFamily="34" charset="-122"/>
                <a:cs typeface="Calibri" pitchFamily="34" charset="-120"/>
              </a:rPr>
              <a:t>line revenue = qty x price</a:t>
            </a:r>
            <a:endParaRPr lang="en-US" sz="1100" dirty="0"/>
          </a:p>
          <a:p>
            <a:pPr indent="0" marL="0">
              <a:buNone/>
            </a:pPr>
            <a:r>
              <a:rPr lang="en-US" sz="1100" dirty="0">
                <a:solidFill>
                  <a:srgbClr val="1B2A38"/>
                </a:solidFill>
                <a:latin typeface="Calibri" pitchFamily="34" charset="0"/>
                <a:ea typeface="Calibri" pitchFamily="34" charset="-122"/>
                <a:cs typeface="Calibri" pitchFamily="34" charset="-120"/>
              </a:rPr>
              <a:t>cancellation flag, line key</a:t>
            </a:r>
            <a:endParaRPr lang="en-US" sz="1100" dirty="0"/>
          </a:p>
        </p:txBody>
      </p:sp>
      <p:sp>
        <p:nvSpPr>
          <p:cNvPr id="11"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reports/latest/cleaning_summary.json (run-001); configs/pipeline.yaml; cancellation lines = fact rows flagged is_cancellation</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Integration, outputs and lineage</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One cleaned source organised into documented keys and grains</a:t>
            </a:r>
            <a:endParaRPr lang="en-US" sz="1400" dirty="0"/>
          </a:p>
        </p:txBody>
      </p:sp>
      <p:graphicFrame>
        <p:nvGraphicFramePr>
          <p:cNvPr id="8" name="Output table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2286000"/>
                <a:gridCol w="1097280"/>
                <a:gridCol w="2743200"/>
              </a:tblGrid>
              <a:tr h="28346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Output table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Grain / key</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Consumer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fact_sales_line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Invoice line / line_id</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1,033,062</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Analytics layer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dim_product</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Stock code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4,739</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Inventory, forecasting</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dim_customer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Pseudonymised customer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5,875</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Marketing, churn</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dim_date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Calendar day</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739</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All reporting</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agg_daily_sales</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Day x country</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3,160</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Finance, Operations</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agg_weekly_sku_demand</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ISO week x stock code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197,630</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Inventory and Procurement</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283464">
                <a:tc>
                  <a:txBody>
                    <a:bodyPr/>
                    <a:lstStyle/>
                    <a:p>
                      <a:pPr algn="l" indent="0" marL="0">
                        <a:buNone/>
                      </a:pPr>
                      <a:r>
                        <a:rPr lang="en-US" sz="1100" b="1" dirty="0">
                          <a:solidFill>
                            <a:srgbClr val="1B2A38"/>
                          </a:solidFill>
                          <a:latin typeface="Calibri" pitchFamily="34" charset="0"/>
                          <a:ea typeface="Calibri" pitchFamily="34" charset="-122"/>
                          <a:cs typeface="Calibri" pitchFamily="34" charset="-120"/>
                        </a:rPr>
                        <a:t>agg_customer_rfm_base</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Pseudonymised customer</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A38"/>
                          </a:solidFill>
                          <a:latin typeface="Calibri" pitchFamily="34" charset="0"/>
                          <a:ea typeface="Calibri" pitchFamily="34" charset="-122"/>
                          <a:cs typeface="Calibri" pitchFamily="34" charset="-120"/>
                        </a:rPr>
                        <a:t>5,875</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A38"/>
                          </a:solidFill>
                          <a:latin typeface="Calibri" pitchFamily="34" charset="0"/>
                          <a:ea typeface="Calibri" pitchFamily="34" charset="-122"/>
                          <a:cs typeface="Calibri" pitchFamily="34" charset="-120"/>
                        </a:rPr>
                        <a:t>Marketing (RFM)</a:t>
                      </a:r>
                      <a:endParaRPr lang="en-US" sz="1100" dirty="0">
                        <a:latin typeface="Calibri" charset="0"/>
                        <a:ea typeface="Calibri" charset="0"/>
                        <a:cs typeface="Calibri" charset="0"/>
                      </a:endParaRPr>
                    </a:p>
                  </a:txBody>
                  <a:tcPr marL="73152" marR="73152"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822192"/>
            <a:ext cx="1371600" cy="201168"/>
          </a:xfrm>
          <a:prstGeom prst="rect">
            <a:avLst/>
          </a:prstGeom>
          <a:noFill/>
          <a:ln/>
        </p:spPr>
        <p:txBody>
          <a:bodyPr wrap="square" lIns="0" tIns="0" rIns="0" bIns="0" rtlCol="0" anchor="ctr"/>
          <a:lstStyle/>
          <a:p>
            <a:pPr indent="0" marL="0">
              <a:buNone/>
            </a:pPr>
            <a:r>
              <a:rPr lang="en-US" sz="1100" b="1" dirty="0">
                <a:solidFill>
                  <a:srgbClr val="5B6B79"/>
                </a:solidFill>
                <a:latin typeface="Calibri" pitchFamily="34" charset="0"/>
                <a:ea typeface="Calibri" pitchFamily="34" charset="-122"/>
                <a:cs typeface="Calibri" pitchFamily="34" charset="-120"/>
              </a:rPr>
              <a:t>Lineage 1</a:t>
            </a:r>
            <a:endParaRPr lang="en-US" sz="1100" dirty="0"/>
          </a:p>
        </p:txBody>
      </p:sp>
      <p:sp>
        <p:nvSpPr>
          <p:cNvPr id="6" name="Process step"/>
          <p:cNvSpPr/>
          <p:nvPr/>
        </p:nvSpPr>
        <p:spPr>
          <a:xfrm>
            <a:off x="457200" y="4069080"/>
            <a:ext cx="777240" cy="566928"/>
          </a:xfrm>
          <a:prstGeom prst="roundRect">
            <a:avLst>
              <a:gd name="adj" fmla="val 12903"/>
            </a:avLst>
          </a:prstGeom>
          <a:solidFill>
            <a:srgbClr val="6C7A89"/>
          </a:solidFill>
          <a:ln w="12700">
            <a:solidFill>
              <a:srgbClr val="6C7A89"/>
            </a:solidFill>
            <a:prstDash val="solid"/>
          </a:ln>
        </p:spPr>
      </p:sp>
      <p:sp>
        <p:nvSpPr>
          <p:cNvPr id="7" name="Text 4"/>
          <p:cNvSpPr txBox="1"/>
          <p:nvPr/>
        </p:nvSpPr>
        <p:spPr>
          <a:xfrm>
            <a:off x="457200" y="4069080"/>
            <a:ext cx="77724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Quantity x Price</a:t>
            </a:r>
            <a:endParaRPr lang="en-US" sz="1000" dirty="0"/>
          </a:p>
        </p:txBody>
      </p:sp>
      <p:sp>
        <p:nvSpPr>
          <p:cNvPr id="8" name="Arrow"/>
          <p:cNvSpPr/>
          <p:nvPr/>
        </p:nvSpPr>
        <p:spPr>
          <a:xfrm>
            <a:off x="1234440" y="4352544"/>
            <a:ext cx="91440" cy="0"/>
          </a:xfrm>
          <a:prstGeom prst="line">
            <a:avLst/>
          </a:prstGeom>
          <a:noFill/>
          <a:ln w="19050">
            <a:solidFill>
              <a:srgbClr val="6C7A89"/>
            </a:solidFill>
            <a:prstDash val="solid"/>
            <a:tailEnd type="triangle"/>
          </a:ln>
        </p:spPr>
      </p:sp>
      <p:sp>
        <p:nvSpPr>
          <p:cNvPr id="9" name="Process step"/>
          <p:cNvSpPr/>
          <p:nvPr/>
        </p:nvSpPr>
        <p:spPr>
          <a:xfrm>
            <a:off x="1325880" y="4069080"/>
            <a:ext cx="914400" cy="566928"/>
          </a:xfrm>
          <a:prstGeom prst="roundRect">
            <a:avLst>
              <a:gd name="adj" fmla="val 12903"/>
            </a:avLst>
          </a:prstGeom>
          <a:solidFill>
            <a:srgbClr val="12344D"/>
          </a:solidFill>
          <a:ln w="12700">
            <a:solidFill>
              <a:srgbClr val="12344D"/>
            </a:solidFill>
            <a:prstDash val="solid"/>
          </a:ln>
        </p:spPr>
      </p:sp>
      <p:sp>
        <p:nvSpPr>
          <p:cNvPr id="10" name="Text 7"/>
          <p:cNvSpPr txBox="1"/>
          <p:nvPr/>
        </p:nvSpPr>
        <p:spPr>
          <a:xfrm>
            <a:off x="1325880" y="4069080"/>
            <a:ext cx="91440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line_revenue</a:t>
            </a:r>
            <a:endParaRPr lang="en-US" sz="1000" dirty="0"/>
          </a:p>
        </p:txBody>
      </p:sp>
      <p:sp>
        <p:nvSpPr>
          <p:cNvPr id="11" name="Arrow"/>
          <p:cNvSpPr/>
          <p:nvPr/>
        </p:nvSpPr>
        <p:spPr>
          <a:xfrm>
            <a:off x="2240280" y="4352544"/>
            <a:ext cx="91440" cy="0"/>
          </a:xfrm>
          <a:prstGeom prst="line">
            <a:avLst/>
          </a:prstGeom>
          <a:noFill/>
          <a:ln w="19050">
            <a:solidFill>
              <a:srgbClr val="6C7A89"/>
            </a:solidFill>
            <a:prstDash val="solid"/>
            <a:tailEnd type="triangle"/>
          </a:ln>
        </p:spPr>
      </p:sp>
      <p:sp>
        <p:nvSpPr>
          <p:cNvPr id="12" name="Process step"/>
          <p:cNvSpPr/>
          <p:nvPr/>
        </p:nvSpPr>
        <p:spPr>
          <a:xfrm>
            <a:off x="2331720" y="4069080"/>
            <a:ext cx="822960" cy="566928"/>
          </a:xfrm>
          <a:prstGeom prst="roundRect">
            <a:avLst>
              <a:gd name="adj" fmla="val 12903"/>
            </a:avLst>
          </a:prstGeom>
          <a:solidFill>
            <a:srgbClr val="1C7C7D"/>
          </a:solidFill>
          <a:ln w="12700">
            <a:solidFill>
              <a:srgbClr val="1C7C7D"/>
            </a:solidFill>
            <a:prstDash val="solid"/>
          </a:ln>
        </p:spPr>
      </p:sp>
      <p:sp>
        <p:nvSpPr>
          <p:cNvPr id="13" name="Text 10"/>
          <p:cNvSpPr txBox="1"/>
          <p:nvPr/>
        </p:nvSpPr>
        <p:spPr>
          <a:xfrm>
            <a:off x="2331720" y="4069080"/>
            <a:ext cx="82296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net and gross revenue</a:t>
            </a:r>
            <a:endParaRPr lang="en-US" sz="1000" dirty="0"/>
          </a:p>
        </p:txBody>
      </p:sp>
      <p:sp>
        <p:nvSpPr>
          <p:cNvPr id="14" name="Text 11"/>
          <p:cNvSpPr txBox="1"/>
          <p:nvPr/>
        </p:nvSpPr>
        <p:spPr>
          <a:xfrm>
            <a:off x="3246120" y="3822192"/>
            <a:ext cx="1371600" cy="201168"/>
          </a:xfrm>
          <a:prstGeom prst="rect">
            <a:avLst/>
          </a:prstGeom>
          <a:noFill/>
          <a:ln/>
        </p:spPr>
        <p:txBody>
          <a:bodyPr wrap="square" lIns="0" tIns="0" rIns="0" bIns="0" rtlCol="0" anchor="ctr"/>
          <a:lstStyle/>
          <a:p>
            <a:pPr indent="0" marL="0">
              <a:buNone/>
            </a:pPr>
            <a:r>
              <a:rPr lang="en-US" sz="1100" b="1" dirty="0">
                <a:solidFill>
                  <a:srgbClr val="5B6B79"/>
                </a:solidFill>
                <a:latin typeface="Calibri" pitchFamily="34" charset="0"/>
                <a:ea typeface="Calibri" pitchFamily="34" charset="-122"/>
                <a:cs typeface="Calibri" pitchFamily="34" charset="-120"/>
              </a:rPr>
              <a:t>Lineage 2</a:t>
            </a:r>
            <a:endParaRPr lang="en-US" sz="1100" dirty="0"/>
          </a:p>
        </p:txBody>
      </p:sp>
      <p:sp>
        <p:nvSpPr>
          <p:cNvPr id="15" name="Process step"/>
          <p:cNvSpPr/>
          <p:nvPr/>
        </p:nvSpPr>
        <p:spPr>
          <a:xfrm>
            <a:off x="3246120" y="4069080"/>
            <a:ext cx="777240" cy="566928"/>
          </a:xfrm>
          <a:prstGeom prst="roundRect">
            <a:avLst>
              <a:gd name="adj" fmla="val 12903"/>
            </a:avLst>
          </a:prstGeom>
          <a:solidFill>
            <a:srgbClr val="6C7A89"/>
          </a:solidFill>
          <a:ln w="12700">
            <a:solidFill>
              <a:srgbClr val="6C7A89"/>
            </a:solidFill>
            <a:prstDash val="solid"/>
          </a:ln>
        </p:spPr>
      </p:sp>
      <p:sp>
        <p:nvSpPr>
          <p:cNvPr id="16" name="Text 13"/>
          <p:cNvSpPr txBox="1"/>
          <p:nvPr/>
        </p:nvSpPr>
        <p:spPr>
          <a:xfrm>
            <a:off x="3246120" y="4069080"/>
            <a:ext cx="77724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 ID</a:t>
            </a:r>
            <a:endParaRPr lang="en-US" sz="1000" dirty="0"/>
          </a:p>
        </p:txBody>
      </p:sp>
      <p:sp>
        <p:nvSpPr>
          <p:cNvPr id="17" name="Arrow"/>
          <p:cNvSpPr/>
          <p:nvPr/>
        </p:nvSpPr>
        <p:spPr>
          <a:xfrm>
            <a:off x="4023360" y="4352544"/>
            <a:ext cx="91440" cy="0"/>
          </a:xfrm>
          <a:prstGeom prst="line">
            <a:avLst/>
          </a:prstGeom>
          <a:noFill/>
          <a:ln w="19050">
            <a:solidFill>
              <a:srgbClr val="6C7A89"/>
            </a:solidFill>
            <a:prstDash val="solid"/>
            <a:tailEnd type="triangle"/>
          </a:ln>
        </p:spPr>
      </p:sp>
      <p:sp>
        <p:nvSpPr>
          <p:cNvPr id="18" name="Process step"/>
          <p:cNvSpPr/>
          <p:nvPr/>
        </p:nvSpPr>
        <p:spPr>
          <a:xfrm>
            <a:off x="4114800" y="4069080"/>
            <a:ext cx="914400" cy="566928"/>
          </a:xfrm>
          <a:prstGeom prst="roundRect">
            <a:avLst>
              <a:gd name="adj" fmla="val 12903"/>
            </a:avLst>
          </a:prstGeom>
          <a:solidFill>
            <a:srgbClr val="12344D"/>
          </a:solidFill>
          <a:ln w="12700">
            <a:solidFill>
              <a:srgbClr val="12344D"/>
            </a:solidFill>
            <a:prstDash val="solid"/>
          </a:ln>
        </p:spPr>
      </p:sp>
      <p:sp>
        <p:nvSpPr>
          <p:cNvPr id="19" name="Text 16"/>
          <p:cNvSpPr txBox="1"/>
          <p:nvPr/>
        </p:nvSpPr>
        <p:spPr>
          <a:xfrm>
            <a:off x="4114800" y="4069080"/>
            <a:ext cx="91440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customer_key (HMAC)</a:t>
            </a:r>
            <a:endParaRPr lang="en-US" sz="1000" dirty="0"/>
          </a:p>
        </p:txBody>
      </p:sp>
      <p:sp>
        <p:nvSpPr>
          <p:cNvPr id="20" name="Arrow"/>
          <p:cNvSpPr/>
          <p:nvPr/>
        </p:nvSpPr>
        <p:spPr>
          <a:xfrm>
            <a:off x="5029200" y="4352544"/>
            <a:ext cx="91440" cy="0"/>
          </a:xfrm>
          <a:prstGeom prst="line">
            <a:avLst/>
          </a:prstGeom>
          <a:noFill/>
          <a:ln w="19050">
            <a:solidFill>
              <a:srgbClr val="6C7A89"/>
            </a:solidFill>
            <a:prstDash val="solid"/>
            <a:tailEnd type="triangle"/>
          </a:ln>
        </p:spPr>
      </p:sp>
      <p:sp>
        <p:nvSpPr>
          <p:cNvPr id="21" name="Process step"/>
          <p:cNvSpPr/>
          <p:nvPr/>
        </p:nvSpPr>
        <p:spPr>
          <a:xfrm>
            <a:off x="5120640" y="4069080"/>
            <a:ext cx="822960" cy="566928"/>
          </a:xfrm>
          <a:prstGeom prst="roundRect">
            <a:avLst>
              <a:gd name="adj" fmla="val 12903"/>
            </a:avLst>
          </a:prstGeom>
          <a:solidFill>
            <a:srgbClr val="1C7C7D"/>
          </a:solidFill>
          <a:ln w="12700">
            <a:solidFill>
              <a:srgbClr val="1C7C7D"/>
            </a:solidFill>
            <a:prstDash val="solid"/>
          </a:ln>
        </p:spPr>
      </p:sp>
      <p:sp>
        <p:nvSpPr>
          <p:cNvPr id="22" name="Text 19"/>
          <p:cNvSpPr txBox="1"/>
          <p:nvPr/>
        </p:nvSpPr>
        <p:spPr>
          <a:xfrm>
            <a:off x="5120640" y="4069080"/>
            <a:ext cx="82296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customer dim + RFM</a:t>
            </a:r>
            <a:endParaRPr lang="en-US" sz="1000" dirty="0"/>
          </a:p>
        </p:txBody>
      </p:sp>
      <p:sp>
        <p:nvSpPr>
          <p:cNvPr id="23" name="Text 20"/>
          <p:cNvSpPr txBox="1"/>
          <p:nvPr/>
        </p:nvSpPr>
        <p:spPr>
          <a:xfrm>
            <a:off x="6035040" y="3822192"/>
            <a:ext cx="1371600" cy="201168"/>
          </a:xfrm>
          <a:prstGeom prst="rect">
            <a:avLst/>
          </a:prstGeom>
          <a:noFill/>
          <a:ln/>
        </p:spPr>
        <p:txBody>
          <a:bodyPr wrap="square" lIns="0" tIns="0" rIns="0" bIns="0" rtlCol="0" anchor="ctr"/>
          <a:lstStyle/>
          <a:p>
            <a:pPr indent="0" marL="0">
              <a:buNone/>
            </a:pPr>
            <a:r>
              <a:rPr lang="en-US" sz="1100" b="1" dirty="0">
                <a:solidFill>
                  <a:srgbClr val="5B6B79"/>
                </a:solidFill>
                <a:latin typeface="Calibri" pitchFamily="34" charset="0"/>
                <a:ea typeface="Calibri" pitchFamily="34" charset="-122"/>
                <a:cs typeface="Calibri" pitchFamily="34" charset="-120"/>
              </a:rPr>
              <a:t>Lineage 3</a:t>
            </a:r>
            <a:endParaRPr lang="en-US" sz="1100" dirty="0"/>
          </a:p>
        </p:txBody>
      </p:sp>
      <p:sp>
        <p:nvSpPr>
          <p:cNvPr id="24" name="Process step"/>
          <p:cNvSpPr/>
          <p:nvPr/>
        </p:nvSpPr>
        <p:spPr>
          <a:xfrm>
            <a:off x="6035040" y="4069080"/>
            <a:ext cx="777240" cy="566928"/>
          </a:xfrm>
          <a:prstGeom prst="roundRect">
            <a:avLst>
              <a:gd name="adj" fmla="val 12903"/>
            </a:avLst>
          </a:prstGeom>
          <a:solidFill>
            <a:srgbClr val="6C7A89"/>
          </a:solidFill>
          <a:ln w="12700">
            <a:solidFill>
              <a:srgbClr val="6C7A89"/>
            </a:solidFill>
            <a:prstDash val="solid"/>
          </a:ln>
        </p:spPr>
      </p:sp>
      <p:sp>
        <p:nvSpPr>
          <p:cNvPr id="25" name="Text 22"/>
          <p:cNvSpPr txBox="1"/>
          <p:nvPr/>
        </p:nvSpPr>
        <p:spPr>
          <a:xfrm>
            <a:off x="6035040" y="4069080"/>
            <a:ext cx="77724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Invoice 'C' prefix</a:t>
            </a:r>
            <a:endParaRPr lang="en-US" sz="1000" dirty="0"/>
          </a:p>
        </p:txBody>
      </p:sp>
      <p:sp>
        <p:nvSpPr>
          <p:cNvPr id="26" name="Arrow"/>
          <p:cNvSpPr/>
          <p:nvPr/>
        </p:nvSpPr>
        <p:spPr>
          <a:xfrm>
            <a:off x="6812280" y="4352544"/>
            <a:ext cx="91440" cy="0"/>
          </a:xfrm>
          <a:prstGeom prst="line">
            <a:avLst/>
          </a:prstGeom>
          <a:noFill/>
          <a:ln w="19050">
            <a:solidFill>
              <a:srgbClr val="6C7A89"/>
            </a:solidFill>
            <a:prstDash val="solid"/>
            <a:tailEnd type="triangle"/>
          </a:ln>
        </p:spPr>
      </p:sp>
      <p:sp>
        <p:nvSpPr>
          <p:cNvPr id="27" name="Process step"/>
          <p:cNvSpPr/>
          <p:nvPr/>
        </p:nvSpPr>
        <p:spPr>
          <a:xfrm>
            <a:off x="6903720" y="4069080"/>
            <a:ext cx="914400" cy="566928"/>
          </a:xfrm>
          <a:prstGeom prst="roundRect">
            <a:avLst>
              <a:gd name="adj" fmla="val 12903"/>
            </a:avLst>
          </a:prstGeom>
          <a:solidFill>
            <a:srgbClr val="12344D"/>
          </a:solidFill>
          <a:ln w="12700">
            <a:solidFill>
              <a:srgbClr val="12344D"/>
            </a:solidFill>
            <a:prstDash val="solid"/>
          </a:ln>
        </p:spPr>
      </p:sp>
      <p:sp>
        <p:nvSpPr>
          <p:cNvPr id="28" name="Text 25"/>
          <p:cNvSpPr txBox="1"/>
          <p:nvPr/>
        </p:nvSpPr>
        <p:spPr>
          <a:xfrm>
            <a:off x="6903720" y="4069080"/>
            <a:ext cx="91440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is_cancellation</a:t>
            </a:r>
            <a:endParaRPr lang="en-US" sz="1000" dirty="0"/>
          </a:p>
        </p:txBody>
      </p:sp>
      <p:sp>
        <p:nvSpPr>
          <p:cNvPr id="29" name="Arrow"/>
          <p:cNvSpPr/>
          <p:nvPr/>
        </p:nvSpPr>
        <p:spPr>
          <a:xfrm>
            <a:off x="7818120" y="4352544"/>
            <a:ext cx="91440" cy="0"/>
          </a:xfrm>
          <a:prstGeom prst="line">
            <a:avLst/>
          </a:prstGeom>
          <a:noFill/>
          <a:ln w="19050">
            <a:solidFill>
              <a:srgbClr val="6C7A89"/>
            </a:solidFill>
            <a:prstDash val="solid"/>
            <a:tailEnd type="triangle"/>
          </a:ln>
        </p:spPr>
      </p:sp>
      <p:sp>
        <p:nvSpPr>
          <p:cNvPr id="30" name="Process step"/>
          <p:cNvSpPr/>
          <p:nvPr/>
        </p:nvSpPr>
        <p:spPr>
          <a:xfrm>
            <a:off x="7909560" y="4069080"/>
            <a:ext cx="822960" cy="566928"/>
          </a:xfrm>
          <a:prstGeom prst="roundRect">
            <a:avLst>
              <a:gd name="adj" fmla="val 12903"/>
            </a:avLst>
          </a:prstGeom>
          <a:solidFill>
            <a:srgbClr val="1C7C7D"/>
          </a:solidFill>
          <a:ln w="12700">
            <a:solidFill>
              <a:srgbClr val="1C7C7D"/>
            </a:solidFill>
            <a:prstDash val="solid"/>
          </a:ln>
        </p:spPr>
      </p:sp>
      <p:sp>
        <p:nvSpPr>
          <p:cNvPr id="31" name="Text 28"/>
          <p:cNvSpPr txBox="1"/>
          <p:nvPr/>
        </p:nvSpPr>
        <p:spPr>
          <a:xfrm>
            <a:off x="7909560" y="4069080"/>
            <a:ext cx="822960" cy="566928"/>
          </a:xfrm>
          <a:prstGeom prst="rect">
            <a:avLst/>
          </a:prstGeom>
          <a:noFill/>
          <a:ln/>
        </p:spPr>
        <p:txBody>
          <a:bodyPr wrap="square" lIns="508" tIns="508" rIns="508" bIns="508"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cancellation metrics</a:t>
            </a:r>
            <a:endParaRPr lang="en-US" sz="1000" dirty="0"/>
          </a:p>
        </p:txBody>
      </p:sp>
      <p:sp>
        <p:nvSpPr>
          <p:cNvPr id="32"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docs/lineage.md, docs/data_dictionary.yaml, src/retail_pipeline/catalog.py (run-002 manifest row counts)</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Orchestration and reproducibility</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One command, deterministic outputs, failures stop publication</a:t>
            </a:r>
            <a:endParaRPr lang="en-US" sz="1400" dirty="0"/>
          </a:p>
        </p:txBody>
      </p:sp>
      <p:sp>
        <p:nvSpPr>
          <p:cNvPr id="4" name="Control card"/>
          <p:cNvSpPr/>
          <p:nvPr/>
        </p:nvSpPr>
        <p:spPr>
          <a:xfrm>
            <a:off x="457200" y="1234440"/>
            <a:ext cx="2651760" cy="1280160"/>
          </a:xfrm>
          <a:prstGeom prst="roundRect">
            <a:avLst>
              <a:gd name="adj" fmla="val 5714"/>
            </a:avLst>
          </a:prstGeom>
          <a:solidFill>
            <a:srgbClr val="EEF3F5"/>
          </a:solidFill>
          <a:ln w="6350">
            <a:solidFill>
              <a:srgbClr val="EEF3F5"/>
            </a:solidFill>
            <a:prstDash val="solid"/>
          </a:ln>
        </p:spPr>
      </p:sp>
      <p:sp>
        <p:nvSpPr>
          <p:cNvPr id="5" name="Shape 3"/>
          <p:cNvSpPr/>
          <p:nvPr/>
        </p:nvSpPr>
        <p:spPr>
          <a:xfrm>
            <a:off x="566928" y="1344168"/>
            <a:ext cx="329184" cy="329184"/>
          </a:xfrm>
          <a:prstGeom prst="ellipse">
            <a:avLst/>
          </a:prstGeom>
          <a:solidFill>
            <a:srgbClr val="1C7C7D"/>
          </a:solidFill>
          <a:ln w="12700">
            <a:solidFill>
              <a:srgbClr val="1C7C7D"/>
            </a:solidFill>
            <a:prstDash val="solid"/>
          </a:ln>
        </p:spPr>
      </p:sp>
      <p:sp>
        <p:nvSpPr>
          <p:cNvPr id="6" name="Text 4"/>
          <p:cNvSpPr txBox="1"/>
          <p:nvPr/>
        </p:nvSpPr>
        <p:spPr>
          <a:xfrm>
            <a:off x="566928" y="1344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87552" y="132588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Prefect DAG</a:t>
            </a:r>
            <a:endParaRPr lang="en-US" sz="1400" dirty="0"/>
          </a:p>
        </p:txBody>
      </p:sp>
      <p:sp>
        <p:nvSpPr>
          <p:cNvPr id="8" name="Text 6"/>
          <p:cNvSpPr txBox="1"/>
          <p:nvPr/>
        </p:nvSpPr>
        <p:spPr>
          <a:xfrm>
            <a:off x="566928" y="173736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11 tasks; dependencies via futures; profile, bias and privacy run as branches</a:t>
            </a:r>
            <a:endParaRPr lang="en-US" sz="1100" dirty="0"/>
          </a:p>
        </p:txBody>
      </p:sp>
      <p:sp>
        <p:nvSpPr>
          <p:cNvPr id="9" name="Status tag"/>
          <p:cNvSpPr/>
          <p:nvPr/>
        </p:nvSpPr>
        <p:spPr>
          <a:xfrm>
            <a:off x="1965960" y="2221992"/>
            <a:ext cx="1051560" cy="219456"/>
          </a:xfrm>
          <a:prstGeom prst="roundRect">
            <a:avLst>
              <a:gd name="adj" fmla="val 20833"/>
            </a:avLst>
          </a:prstGeom>
          <a:solidFill>
            <a:srgbClr val="1C7C7D"/>
          </a:solidFill>
          <a:ln w="12700">
            <a:solidFill>
              <a:srgbClr val="1C7C7D"/>
            </a:solidFill>
            <a:prstDash val="solid"/>
          </a:ln>
        </p:spPr>
      </p:sp>
      <p:sp>
        <p:nvSpPr>
          <p:cNvPr id="10" name="Text 8"/>
          <p:cNvSpPr txBox="1"/>
          <p:nvPr/>
        </p:nvSpPr>
        <p:spPr>
          <a:xfrm>
            <a:off x="1965960" y="222199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11" name="Control card"/>
          <p:cNvSpPr/>
          <p:nvPr/>
        </p:nvSpPr>
        <p:spPr>
          <a:xfrm>
            <a:off x="3246120" y="1234440"/>
            <a:ext cx="2651760" cy="1280160"/>
          </a:xfrm>
          <a:prstGeom prst="roundRect">
            <a:avLst>
              <a:gd name="adj" fmla="val 5714"/>
            </a:avLst>
          </a:prstGeom>
          <a:solidFill>
            <a:srgbClr val="EEF3F5"/>
          </a:solidFill>
          <a:ln w="6350">
            <a:solidFill>
              <a:srgbClr val="EEF3F5"/>
            </a:solidFill>
            <a:prstDash val="solid"/>
          </a:ln>
        </p:spPr>
      </p:sp>
      <p:sp>
        <p:nvSpPr>
          <p:cNvPr id="12" name="Shape 10"/>
          <p:cNvSpPr/>
          <p:nvPr/>
        </p:nvSpPr>
        <p:spPr>
          <a:xfrm>
            <a:off x="3355848" y="1344168"/>
            <a:ext cx="329184" cy="329184"/>
          </a:xfrm>
          <a:prstGeom prst="ellipse">
            <a:avLst/>
          </a:prstGeom>
          <a:solidFill>
            <a:srgbClr val="1C7C7D"/>
          </a:solidFill>
          <a:ln w="12700">
            <a:solidFill>
              <a:srgbClr val="1C7C7D"/>
            </a:solidFill>
            <a:prstDash val="solid"/>
          </a:ln>
        </p:spPr>
      </p:sp>
      <p:sp>
        <p:nvSpPr>
          <p:cNvPr id="13" name="Text 11"/>
          <p:cNvSpPr txBox="1"/>
          <p:nvPr/>
        </p:nvSpPr>
        <p:spPr>
          <a:xfrm>
            <a:off x="3355848" y="1344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3776472" y="132588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Retries and failure</a:t>
            </a:r>
            <a:endParaRPr lang="en-US" sz="1400" dirty="0"/>
          </a:p>
        </p:txBody>
      </p:sp>
      <p:sp>
        <p:nvSpPr>
          <p:cNvPr id="15" name="Text 13"/>
          <p:cNvSpPr txBox="1"/>
          <p:nvPr/>
        </p:nvSpPr>
        <p:spPr>
          <a:xfrm>
            <a:off x="3355848" y="173736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ingest retries 2x; gates never retry; failed run writes FAILED status and publishes nothing</a:t>
            </a:r>
            <a:endParaRPr lang="en-US" sz="1100" dirty="0"/>
          </a:p>
        </p:txBody>
      </p:sp>
      <p:sp>
        <p:nvSpPr>
          <p:cNvPr id="16" name="Status tag"/>
          <p:cNvSpPr/>
          <p:nvPr/>
        </p:nvSpPr>
        <p:spPr>
          <a:xfrm>
            <a:off x="4754880" y="2221992"/>
            <a:ext cx="1051560" cy="219456"/>
          </a:xfrm>
          <a:prstGeom prst="roundRect">
            <a:avLst>
              <a:gd name="adj" fmla="val 20833"/>
            </a:avLst>
          </a:prstGeom>
          <a:solidFill>
            <a:srgbClr val="1C7C7D"/>
          </a:solidFill>
          <a:ln w="12700">
            <a:solidFill>
              <a:srgbClr val="1C7C7D"/>
            </a:solidFill>
            <a:prstDash val="solid"/>
          </a:ln>
        </p:spPr>
      </p:sp>
      <p:sp>
        <p:nvSpPr>
          <p:cNvPr id="17" name="Text 15"/>
          <p:cNvSpPr txBox="1"/>
          <p:nvPr/>
        </p:nvSpPr>
        <p:spPr>
          <a:xfrm>
            <a:off x="4754880" y="222199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18" name="Control card"/>
          <p:cNvSpPr/>
          <p:nvPr/>
        </p:nvSpPr>
        <p:spPr>
          <a:xfrm>
            <a:off x="6035040" y="1234440"/>
            <a:ext cx="2651760" cy="1280160"/>
          </a:xfrm>
          <a:prstGeom prst="roundRect">
            <a:avLst>
              <a:gd name="adj" fmla="val 5714"/>
            </a:avLst>
          </a:prstGeom>
          <a:solidFill>
            <a:srgbClr val="EEF3F5"/>
          </a:solidFill>
          <a:ln w="6350">
            <a:solidFill>
              <a:srgbClr val="EEF3F5"/>
            </a:solidFill>
            <a:prstDash val="solid"/>
          </a:ln>
        </p:spPr>
      </p:sp>
      <p:sp>
        <p:nvSpPr>
          <p:cNvPr id="19" name="Shape 17"/>
          <p:cNvSpPr/>
          <p:nvPr/>
        </p:nvSpPr>
        <p:spPr>
          <a:xfrm>
            <a:off x="6144768" y="1344168"/>
            <a:ext cx="329184" cy="329184"/>
          </a:xfrm>
          <a:prstGeom prst="ellipse">
            <a:avLst/>
          </a:prstGeom>
          <a:solidFill>
            <a:srgbClr val="1C7C7D"/>
          </a:solidFill>
          <a:ln w="12700">
            <a:solidFill>
              <a:srgbClr val="1C7C7D"/>
            </a:solidFill>
            <a:prstDash val="solid"/>
          </a:ln>
        </p:spPr>
      </p:sp>
      <p:sp>
        <p:nvSpPr>
          <p:cNvPr id="20" name="Text 18"/>
          <p:cNvSpPr txBox="1"/>
          <p:nvPr/>
        </p:nvSpPr>
        <p:spPr>
          <a:xfrm>
            <a:off x="6144768" y="1344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6565392" y="132588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Deterministic</a:t>
            </a:r>
            <a:endParaRPr lang="en-US" sz="1400" dirty="0"/>
          </a:p>
        </p:txBody>
      </p:sp>
      <p:sp>
        <p:nvSpPr>
          <p:cNvPr id="22" name="Text 20"/>
          <p:cNvSpPr txBox="1"/>
          <p:nvPr/>
        </p:nvSpPr>
        <p:spPr>
          <a:xfrm>
            <a:off x="6144768" y="173736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7 of 7 tables identical across two runs; build id 41afeb4d</a:t>
            </a:r>
            <a:endParaRPr lang="en-US" sz="1100" dirty="0"/>
          </a:p>
        </p:txBody>
      </p:sp>
      <p:sp>
        <p:nvSpPr>
          <p:cNvPr id="23" name="Status tag"/>
          <p:cNvSpPr/>
          <p:nvPr/>
        </p:nvSpPr>
        <p:spPr>
          <a:xfrm>
            <a:off x="7543800" y="2221992"/>
            <a:ext cx="1051560" cy="219456"/>
          </a:xfrm>
          <a:prstGeom prst="roundRect">
            <a:avLst>
              <a:gd name="adj" fmla="val 20833"/>
            </a:avLst>
          </a:prstGeom>
          <a:solidFill>
            <a:srgbClr val="1C7C7D"/>
          </a:solidFill>
          <a:ln w="12700">
            <a:solidFill>
              <a:srgbClr val="1C7C7D"/>
            </a:solidFill>
            <a:prstDash val="solid"/>
          </a:ln>
        </p:spPr>
      </p:sp>
      <p:sp>
        <p:nvSpPr>
          <p:cNvPr id="24" name="Text 22"/>
          <p:cNvSpPr txBox="1"/>
          <p:nvPr/>
        </p:nvSpPr>
        <p:spPr>
          <a:xfrm>
            <a:off x="7543800" y="222199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25" name="Control card"/>
          <p:cNvSpPr/>
          <p:nvPr/>
        </p:nvSpPr>
        <p:spPr>
          <a:xfrm>
            <a:off x="457200" y="2651760"/>
            <a:ext cx="2651760" cy="1280160"/>
          </a:xfrm>
          <a:prstGeom prst="roundRect">
            <a:avLst>
              <a:gd name="adj" fmla="val 5714"/>
            </a:avLst>
          </a:prstGeom>
          <a:solidFill>
            <a:srgbClr val="EEF3F5"/>
          </a:solidFill>
          <a:ln w="6350">
            <a:solidFill>
              <a:srgbClr val="EEF3F5"/>
            </a:solidFill>
            <a:prstDash val="solid"/>
          </a:ln>
        </p:spPr>
      </p:sp>
      <p:sp>
        <p:nvSpPr>
          <p:cNvPr id="26" name="Shape 24"/>
          <p:cNvSpPr/>
          <p:nvPr/>
        </p:nvSpPr>
        <p:spPr>
          <a:xfrm>
            <a:off x="566928" y="2761488"/>
            <a:ext cx="329184" cy="329184"/>
          </a:xfrm>
          <a:prstGeom prst="ellipse">
            <a:avLst/>
          </a:prstGeom>
          <a:solidFill>
            <a:srgbClr val="1C7C7D"/>
          </a:solidFill>
          <a:ln w="12700">
            <a:solidFill>
              <a:srgbClr val="1C7C7D"/>
            </a:solidFill>
            <a:prstDash val="solid"/>
          </a:ln>
        </p:spPr>
      </p:sp>
      <p:sp>
        <p:nvSpPr>
          <p:cNvPr id="27" name="Text 25"/>
          <p:cNvSpPr txBox="1"/>
          <p:nvPr/>
        </p:nvSpPr>
        <p:spPr>
          <a:xfrm>
            <a:off x="566928" y="27614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987552" y="274320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Pinned environment</a:t>
            </a:r>
            <a:endParaRPr lang="en-US" sz="1400" dirty="0"/>
          </a:p>
        </p:txBody>
      </p:sp>
      <p:sp>
        <p:nvSpPr>
          <p:cNvPr id="29" name="Text 27"/>
          <p:cNvSpPr txBox="1"/>
          <p:nvPr/>
        </p:nvSpPr>
        <p:spPr>
          <a:xfrm>
            <a:off x="566928" y="315468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Lock file; fresh venv install + full test run; run in 34 s</a:t>
            </a:r>
            <a:endParaRPr lang="en-US" sz="1100" dirty="0"/>
          </a:p>
        </p:txBody>
      </p:sp>
      <p:sp>
        <p:nvSpPr>
          <p:cNvPr id="30" name="Status tag"/>
          <p:cNvSpPr/>
          <p:nvPr/>
        </p:nvSpPr>
        <p:spPr>
          <a:xfrm>
            <a:off x="1965960" y="3639312"/>
            <a:ext cx="1051560" cy="219456"/>
          </a:xfrm>
          <a:prstGeom prst="roundRect">
            <a:avLst>
              <a:gd name="adj" fmla="val 20833"/>
            </a:avLst>
          </a:prstGeom>
          <a:solidFill>
            <a:srgbClr val="1C7C7D"/>
          </a:solidFill>
          <a:ln w="12700">
            <a:solidFill>
              <a:srgbClr val="1C7C7D"/>
            </a:solidFill>
            <a:prstDash val="solid"/>
          </a:ln>
        </p:spPr>
      </p:sp>
      <p:sp>
        <p:nvSpPr>
          <p:cNvPr id="31" name="Text 29"/>
          <p:cNvSpPr txBox="1"/>
          <p:nvPr/>
        </p:nvSpPr>
        <p:spPr>
          <a:xfrm>
            <a:off x="1965960" y="363931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Executed</a:t>
            </a:r>
            <a:endParaRPr lang="en-US" sz="1000" dirty="0"/>
          </a:p>
        </p:txBody>
      </p:sp>
      <p:sp>
        <p:nvSpPr>
          <p:cNvPr id="32" name="Control card"/>
          <p:cNvSpPr/>
          <p:nvPr/>
        </p:nvSpPr>
        <p:spPr>
          <a:xfrm>
            <a:off x="3246120" y="2651760"/>
            <a:ext cx="2651760" cy="1280160"/>
          </a:xfrm>
          <a:prstGeom prst="roundRect">
            <a:avLst>
              <a:gd name="adj" fmla="val 5714"/>
            </a:avLst>
          </a:prstGeom>
          <a:solidFill>
            <a:srgbClr val="EEF3F5"/>
          </a:solidFill>
          <a:ln w="6350">
            <a:solidFill>
              <a:srgbClr val="EEF3F5"/>
            </a:solidFill>
            <a:prstDash val="solid"/>
          </a:ln>
        </p:spPr>
      </p:sp>
      <p:sp>
        <p:nvSpPr>
          <p:cNvPr id="33" name="Shape 31"/>
          <p:cNvSpPr/>
          <p:nvPr/>
        </p:nvSpPr>
        <p:spPr>
          <a:xfrm>
            <a:off x="3355848" y="2761488"/>
            <a:ext cx="329184" cy="329184"/>
          </a:xfrm>
          <a:prstGeom prst="ellipse">
            <a:avLst/>
          </a:prstGeom>
          <a:solidFill>
            <a:srgbClr val="1C7C7D"/>
          </a:solidFill>
          <a:ln w="12700">
            <a:solidFill>
              <a:srgbClr val="1C7C7D"/>
            </a:solidFill>
            <a:prstDash val="solid"/>
          </a:ln>
        </p:spPr>
      </p:sp>
      <p:sp>
        <p:nvSpPr>
          <p:cNvPr id="34" name="Text 32"/>
          <p:cNvSpPr txBox="1"/>
          <p:nvPr/>
        </p:nvSpPr>
        <p:spPr>
          <a:xfrm>
            <a:off x="3355848" y="27614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5" name="Text 33"/>
          <p:cNvSpPr txBox="1"/>
          <p:nvPr/>
        </p:nvSpPr>
        <p:spPr>
          <a:xfrm>
            <a:off x="3776472" y="274320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Docker image</a:t>
            </a:r>
            <a:endParaRPr lang="en-US" sz="1400" dirty="0"/>
          </a:p>
        </p:txBody>
      </p:sp>
      <p:sp>
        <p:nvSpPr>
          <p:cNvPr id="36" name="Text 34"/>
          <p:cNvSpPr txBox="1"/>
          <p:nvPr/>
        </p:nvSpPr>
        <p:spPr>
          <a:xfrm>
            <a:off x="3355848" y="315468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Builds on a clean runner; test suite passes inside the image (CI run #4). Not run on the full dataset</a:t>
            </a:r>
            <a:endParaRPr lang="en-US" sz="1100" dirty="0"/>
          </a:p>
        </p:txBody>
      </p:sp>
      <p:sp>
        <p:nvSpPr>
          <p:cNvPr id="37" name="Status tag"/>
          <p:cNvSpPr/>
          <p:nvPr/>
        </p:nvSpPr>
        <p:spPr>
          <a:xfrm>
            <a:off x="4754880" y="3639312"/>
            <a:ext cx="1051560" cy="219456"/>
          </a:xfrm>
          <a:prstGeom prst="roundRect">
            <a:avLst>
              <a:gd name="adj" fmla="val 20833"/>
            </a:avLst>
          </a:prstGeom>
          <a:solidFill>
            <a:srgbClr val="1C7C7D"/>
          </a:solidFill>
          <a:ln w="12700">
            <a:solidFill>
              <a:srgbClr val="1C7C7D"/>
            </a:solidFill>
            <a:prstDash val="solid"/>
          </a:ln>
        </p:spPr>
      </p:sp>
      <p:sp>
        <p:nvSpPr>
          <p:cNvPr id="38" name="Text 36"/>
          <p:cNvSpPr txBox="1"/>
          <p:nvPr/>
        </p:nvSpPr>
        <p:spPr>
          <a:xfrm>
            <a:off x="4754880" y="363931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Verified in CI</a:t>
            </a:r>
            <a:endParaRPr lang="en-US" sz="1000" dirty="0"/>
          </a:p>
        </p:txBody>
      </p:sp>
      <p:sp>
        <p:nvSpPr>
          <p:cNvPr id="39" name="Control card"/>
          <p:cNvSpPr/>
          <p:nvPr/>
        </p:nvSpPr>
        <p:spPr>
          <a:xfrm>
            <a:off x="6035040" y="2651760"/>
            <a:ext cx="2651760" cy="1280160"/>
          </a:xfrm>
          <a:prstGeom prst="roundRect">
            <a:avLst>
              <a:gd name="adj" fmla="val 5714"/>
            </a:avLst>
          </a:prstGeom>
          <a:solidFill>
            <a:srgbClr val="EEF3F5"/>
          </a:solidFill>
          <a:ln w="6350">
            <a:solidFill>
              <a:srgbClr val="EEF3F5"/>
            </a:solidFill>
            <a:prstDash val="solid"/>
          </a:ln>
        </p:spPr>
      </p:sp>
      <p:sp>
        <p:nvSpPr>
          <p:cNvPr id="40" name="Shape 38"/>
          <p:cNvSpPr/>
          <p:nvPr/>
        </p:nvSpPr>
        <p:spPr>
          <a:xfrm>
            <a:off x="6144768" y="2761488"/>
            <a:ext cx="329184" cy="329184"/>
          </a:xfrm>
          <a:prstGeom prst="ellipse">
            <a:avLst/>
          </a:prstGeom>
          <a:solidFill>
            <a:srgbClr val="1C7C7D"/>
          </a:solidFill>
          <a:ln w="12700">
            <a:solidFill>
              <a:srgbClr val="1C7C7D"/>
            </a:solidFill>
            <a:prstDash val="solid"/>
          </a:ln>
        </p:spPr>
      </p:sp>
      <p:sp>
        <p:nvSpPr>
          <p:cNvPr id="41" name="Text 39"/>
          <p:cNvSpPr txBox="1"/>
          <p:nvPr/>
        </p:nvSpPr>
        <p:spPr>
          <a:xfrm>
            <a:off x="6144768" y="27614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2" name="Text 40"/>
          <p:cNvSpPr txBox="1"/>
          <p:nvPr/>
        </p:nvSpPr>
        <p:spPr>
          <a:xfrm>
            <a:off x="6565392" y="2743200"/>
            <a:ext cx="2011680" cy="36576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Collaboration</a:t>
            </a:r>
            <a:endParaRPr lang="en-US" sz="1400" dirty="0"/>
          </a:p>
        </p:txBody>
      </p:sp>
      <p:sp>
        <p:nvSpPr>
          <p:cNvPr id="43" name="Text 41"/>
          <p:cNvSpPr txBox="1"/>
          <p:nvPr/>
        </p:nvSpPr>
        <p:spPr>
          <a:xfrm>
            <a:off x="6144768" y="3154680"/>
            <a:ext cx="2450592" cy="749808"/>
          </a:xfrm>
          <a:prstGeom prst="rect">
            <a:avLst/>
          </a:prstGeom>
          <a:noFill/>
          <a:ln/>
        </p:spPr>
        <p:txBody>
          <a:bodyPr wrap="square" lIns="0" tIns="0" rIns="0" bIns="0" rtlCol="0" anchor="t"/>
          <a:lstStyle/>
          <a:p>
            <a:pPr indent="0" marL="0">
              <a:buNone/>
            </a:pPr>
            <a:r>
              <a:rPr lang="en-US" sz="1100" dirty="0">
                <a:solidFill>
                  <a:srgbClr val="1B2A38"/>
                </a:solidFill>
                <a:latin typeface="Calibri" pitchFamily="34" charset="0"/>
                <a:ea typeface="Calibri" pitchFamily="34" charset="-122"/>
                <a:cs typeface="Calibri" pitchFamily="34" charset="-120"/>
              </a:rPr>
              <a:t>Config-as-code, tests, generated docs; CI jobs test and docker both green</a:t>
            </a:r>
            <a:endParaRPr lang="en-US" sz="1100" dirty="0"/>
          </a:p>
        </p:txBody>
      </p:sp>
      <p:sp>
        <p:nvSpPr>
          <p:cNvPr id="44" name="Status tag"/>
          <p:cNvSpPr/>
          <p:nvPr/>
        </p:nvSpPr>
        <p:spPr>
          <a:xfrm>
            <a:off x="7543800" y="3639312"/>
            <a:ext cx="1051560" cy="219456"/>
          </a:xfrm>
          <a:prstGeom prst="roundRect">
            <a:avLst>
              <a:gd name="adj" fmla="val 20833"/>
            </a:avLst>
          </a:prstGeom>
          <a:solidFill>
            <a:srgbClr val="1C7C7D"/>
          </a:solidFill>
          <a:ln w="12700">
            <a:solidFill>
              <a:srgbClr val="1C7C7D"/>
            </a:solidFill>
            <a:prstDash val="solid"/>
          </a:ln>
        </p:spPr>
      </p:sp>
      <p:sp>
        <p:nvSpPr>
          <p:cNvPr id="45" name="Text 43"/>
          <p:cNvSpPr txBox="1"/>
          <p:nvPr/>
        </p:nvSpPr>
        <p:spPr>
          <a:xfrm>
            <a:off x="7543800" y="3639312"/>
            <a:ext cx="105156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CI passed</a:t>
            </a:r>
            <a:endParaRPr lang="en-US" sz="1000" dirty="0"/>
          </a:p>
        </p:txBody>
      </p:sp>
      <p:sp>
        <p:nvSpPr>
          <p:cNvPr id="46" name="Command bar"/>
          <p:cNvSpPr/>
          <p:nvPr/>
        </p:nvSpPr>
        <p:spPr>
          <a:xfrm>
            <a:off x="457200" y="4114800"/>
            <a:ext cx="8229600" cy="548640"/>
          </a:xfrm>
          <a:prstGeom prst="roundRect">
            <a:avLst>
              <a:gd name="adj" fmla="val 13333"/>
            </a:avLst>
          </a:prstGeom>
          <a:solidFill>
            <a:srgbClr val="12344D"/>
          </a:solidFill>
          <a:ln w="12700">
            <a:solidFill>
              <a:srgbClr val="12344D"/>
            </a:solidFill>
            <a:prstDash val="solid"/>
          </a:ln>
        </p:spPr>
      </p:sp>
      <p:sp>
        <p:nvSpPr>
          <p:cNvPr id="47" name="Text 45"/>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python -m retail_pipeline.flow --run-id run-001</a:t>
            </a:r>
            <a:endParaRPr lang="en-US" sz="1400" dirty="0"/>
          </a:p>
        </p:txBody>
      </p:sp>
      <p:sp>
        <p:nvSpPr>
          <p:cNvPr id="48"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reports/evidence/reproducibility_check.json, fresh_venv_check.txt; src/retail_pipeline/flow.py</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Data validation</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Great Expectations gates: critical failures block publication</a:t>
            </a:r>
            <a:endParaRPr lang="en-US" sz="1400" dirty="0"/>
          </a:p>
        </p:txBody>
      </p:sp>
      <p:sp>
        <p:nvSpPr>
          <p:cNvPr id="4" name="Stat card"/>
          <p:cNvSpPr/>
          <p:nvPr/>
        </p:nvSpPr>
        <p:spPr>
          <a:xfrm>
            <a:off x="457200" y="1188720"/>
            <a:ext cx="1325880" cy="868680"/>
          </a:xfrm>
          <a:prstGeom prst="roundRect">
            <a:avLst>
              <a:gd name="adj" fmla="val 8421"/>
            </a:avLst>
          </a:prstGeom>
          <a:solidFill>
            <a:srgbClr val="EEF3F5"/>
          </a:solidFill>
          <a:ln w="6350">
            <a:solidFill>
              <a:srgbClr val="EEF3F5"/>
            </a:solidFill>
            <a:prstDash val="solid"/>
          </a:ln>
        </p:spPr>
      </p:sp>
      <p:sp>
        <p:nvSpPr>
          <p:cNvPr id="5" name="Text 3"/>
          <p:cNvSpPr txBox="1"/>
          <p:nvPr/>
        </p:nvSpPr>
        <p:spPr>
          <a:xfrm>
            <a:off x="548640" y="1243584"/>
            <a:ext cx="1143000" cy="477774"/>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16/16</a:t>
            </a:r>
            <a:endParaRPr lang="en-US" sz="2600" dirty="0"/>
          </a:p>
        </p:txBody>
      </p:sp>
      <p:sp>
        <p:nvSpPr>
          <p:cNvPr id="6" name="Text 4"/>
          <p:cNvSpPr txBox="1"/>
          <p:nvPr/>
        </p:nvSpPr>
        <p:spPr>
          <a:xfrm>
            <a:off x="548640" y="1666494"/>
            <a:ext cx="1143000" cy="364846"/>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bronze checks</a:t>
            </a:r>
            <a:endParaRPr lang="en-US" sz="1200" dirty="0"/>
          </a:p>
        </p:txBody>
      </p:sp>
      <p:sp>
        <p:nvSpPr>
          <p:cNvPr id="7" name="Stat card"/>
          <p:cNvSpPr/>
          <p:nvPr/>
        </p:nvSpPr>
        <p:spPr>
          <a:xfrm>
            <a:off x="1874520" y="1188720"/>
            <a:ext cx="1325880" cy="868680"/>
          </a:xfrm>
          <a:prstGeom prst="roundRect">
            <a:avLst>
              <a:gd name="adj" fmla="val 8421"/>
            </a:avLst>
          </a:prstGeom>
          <a:solidFill>
            <a:srgbClr val="EEF3F5"/>
          </a:solidFill>
          <a:ln w="6350">
            <a:solidFill>
              <a:srgbClr val="EEF3F5"/>
            </a:solidFill>
            <a:prstDash val="solid"/>
          </a:ln>
        </p:spPr>
      </p:sp>
      <p:sp>
        <p:nvSpPr>
          <p:cNvPr id="8" name="Text 6"/>
          <p:cNvSpPr txBox="1"/>
          <p:nvPr/>
        </p:nvSpPr>
        <p:spPr>
          <a:xfrm>
            <a:off x="1965960" y="1243584"/>
            <a:ext cx="1143000" cy="477774"/>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99/99</a:t>
            </a:r>
            <a:endParaRPr lang="en-US" sz="2600" dirty="0"/>
          </a:p>
        </p:txBody>
      </p:sp>
      <p:sp>
        <p:nvSpPr>
          <p:cNvPr id="9" name="Text 7"/>
          <p:cNvSpPr txBox="1"/>
          <p:nvPr/>
        </p:nvSpPr>
        <p:spPr>
          <a:xfrm>
            <a:off x="1965960" y="1666494"/>
            <a:ext cx="1143000" cy="364846"/>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output checks</a:t>
            </a:r>
            <a:endParaRPr lang="en-US" sz="1200" dirty="0"/>
          </a:p>
        </p:txBody>
      </p:sp>
      <p:sp>
        <p:nvSpPr>
          <p:cNvPr id="10" name="Stat card"/>
          <p:cNvSpPr/>
          <p:nvPr/>
        </p:nvSpPr>
        <p:spPr>
          <a:xfrm>
            <a:off x="3291840" y="1188720"/>
            <a:ext cx="1325880" cy="868680"/>
          </a:xfrm>
          <a:prstGeom prst="roundRect">
            <a:avLst>
              <a:gd name="adj" fmla="val 8421"/>
            </a:avLst>
          </a:prstGeom>
          <a:solidFill>
            <a:srgbClr val="EEF3F5"/>
          </a:solidFill>
          <a:ln w="6350">
            <a:solidFill>
              <a:srgbClr val="EEF3F5"/>
            </a:solidFill>
            <a:prstDash val="solid"/>
          </a:ln>
        </p:spPr>
      </p:sp>
      <p:sp>
        <p:nvSpPr>
          <p:cNvPr id="11" name="Text 9"/>
          <p:cNvSpPr txBox="1"/>
          <p:nvPr/>
        </p:nvSpPr>
        <p:spPr>
          <a:xfrm>
            <a:off x="3383280" y="1243584"/>
            <a:ext cx="1143000" cy="477774"/>
          </a:xfrm>
          <a:prstGeom prst="rect">
            <a:avLst/>
          </a:prstGeom>
          <a:noFill/>
          <a:ln/>
        </p:spPr>
        <p:txBody>
          <a:bodyPr wrap="square" lIns="0" tIns="0" rIns="0" bIns="0" rtlCol="0" anchor="ctr"/>
          <a:lstStyle/>
          <a:p>
            <a:pPr indent="0" marL="0">
              <a:buNone/>
            </a:pPr>
            <a:r>
              <a:rPr lang="en-US" sz="2600" b="1" dirty="0">
                <a:solidFill>
                  <a:srgbClr val="2E8B57"/>
                </a:solidFill>
                <a:latin typeface="Cambria" pitchFamily="34" charset="0"/>
                <a:ea typeface="Cambria" pitchFamily="34" charset="-122"/>
                <a:cs typeface="Cambria" pitchFamily="34" charset="-120"/>
              </a:rPr>
              <a:t>13/13</a:t>
            </a:r>
            <a:endParaRPr lang="en-US" sz="2600" dirty="0"/>
          </a:p>
        </p:txBody>
      </p:sp>
      <p:sp>
        <p:nvSpPr>
          <p:cNvPr id="12" name="Text 10"/>
          <p:cNvSpPr txBox="1"/>
          <p:nvPr/>
        </p:nvSpPr>
        <p:spPr>
          <a:xfrm>
            <a:off x="3383280" y="1666494"/>
            <a:ext cx="1143000" cy="364846"/>
          </a:xfrm>
          <a:prstGeom prst="rect">
            <a:avLst/>
          </a:prstGeom>
          <a:noFill/>
          <a:ln/>
        </p:spPr>
        <p:txBody>
          <a:bodyPr wrap="square" lIns="0" tIns="0" rIns="0" bIns="0" rtlCol="0" anchor="t"/>
          <a:lstStyle/>
          <a:p>
            <a:pPr indent="0" marL="0">
              <a:buNone/>
            </a:pPr>
            <a:r>
              <a:rPr lang="en-US" sz="1200" dirty="0">
                <a:solidFill>
                  <a:srgbClr val="1B2A38"/>
                </a:solidFill>
                <a:latin typeface="Calibri" pitchFamily="34" charset="0"/>
                <a:ea typeface="Calibri" pitchFamily="34" charset="-122"/>
                <a:cs typeface="Calibri" pitchFamily="34" charset="-120"/>
              </a:rPr>
              <a:t>reconciliations</a:t>
            </a:r>
            <a:endParaRPr lang="en-US" sz="1200" dirty="0"/>
          </a:p>
        </p:txBody>
      </p:sp>
      <p:graphicFrame>
        <p:nvGraphicFramePr>
          <p:cNvPr id="13" name="Chart 0" descr=""/>
          <p:cNvGraphicFramePr/>
          <p:nvPr/>
        </p:nvGraphicFramePr>
        <p:xfrm>
          <a:off x="365760" y="2148840"/>
          <a:ext cx="4297680" cy="2606040"/>
        </p:xfrm>
        <a:graphic xmlns:a="http://schemas.openxmlformats.org/drawingml/2006/main">
          <a:graphicData uri="http://schemas.openxmlformats.org/drawingml/2006/chart">
            <c:chart xmlns:c="http://schemas.openxmlformats.org/drawingml/2006/chart" r:id="rId1"/>
          </a:graphicData>
        </a:graphic>
      </p:graphicFrame>
      <p:sp>
        <p:nvSpPr>
          <p:cNvPr id="14" name="Reconciliation card"/>
          <p:cNvSpPr/>
          <p:nvPr/>
        </p:nvSpPr>
        <p:spPr>
          <a:xfrm>
            <a:off x="4846320" y="1188720"/>
            <a:ext cx="3840480" cy="3566160"/>
          </a:xfrm>
          <a:prstGeom prst="roundRect">
            <a:avLst>
              <a:gd name="adj" fmla="val 2051"/>
            </a:avLst>
          </a:prstGeom>
          <a:solidFill>
            <a:srgbClr val="EEF3F5"/>
          </a:solidFill>
          <a:ln w="6350">
            <a:solidFill>
              <a:srgbClr val="EEF3F5"/>
            </a:solidFill>
            <a:prstDash val="solid"/>
          </a:ln>
        </p:spPr>
      </p:sp>
      <p:sp>
        <p:nvSpPr>
          <p:cNvPr id="15" name="Text 12"/>
          <p:cNvSpPr txBox="1"/>
          <p:nvPr/>
        </p:nvSpPr>
        <p:spPr>
          <a:xfrm>
            <a:off x="4983480" y="1261872"/>
            <a:ext cx="3566160" cy="274320"/>
          </a:xfrm>
          <a:prstGeom prst="rect">
            <a:avLst/>
          </a:prstGeom>
          <a:noFill/>
          <a:ln/>
        </p:spPr>
        <p:txBody>
          <a:bodyPr wrap="square" lIns="0" tIns="0" rIns="0" bIns="0" rtlCol="0" anchor="ctr"/>
          <a:lstStyle/>
          <a:p>
            <a:pPr indent="0" marL="0">
              <a:buNone/>
            </a:pPr>
            <a:r>
              <a:rPr lang="en-US" sz="1400" b="1" dirty="0">
                <a:solidFill>
                  <a:srgbClr val="12344D"/>
                </a:solidFill>
                <a:latin typeface="Cambria" pitchFamily="34" charset="0"/>
                <a:ea typeface="Cambria" pitchFamily="34" charset="-122"/>
                <a:cs typeface="Cambria" pitchFamily="34" charset="-120"/>
              </a:rPr>
              <a:t>Reconciliation (all within tolerance)</a:t>
            </a:r>
            <a:endParaRPr lang="en-US" sz="1400" dirty="0"/>
          </a:p>
        </p:txBody>
      </p:sp>
      <p:sp>
        <p:nvSpPr>
          <p:cNvPr id="16" name="Text 13"/>
          <p:cNvSpPr txBox="1"/>
          <p:nvPr/>
        </p:nvSpPr>
        <p:spPr>
          <a:xfrm>
            <a:off x="4983480" y="1600200"/>
            <a:ext cx="3566160" cy="3063240"/>
          </a:xfrm>
          <a:prstGeom prst="rect">
            <a:avLst/>
          </a:prstGeom>
          <a:noFill/>
          <a:ln/>
        </p:spPr>
        <p:txBody>
          <a:bodyPr wrap="square" lIns="0" tIns="0" rIns="0" bIns="0" rtlCol="0" anchor="t"/>
          <a:lstStyle/>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Rows: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1,067,371 = 1,033,062 + 5,973 + 28,336</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Revenue: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£19,287,251 = £18,981,262 + £0 + £305,989</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Fact = daily = weekly: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net £18,981,262; differences 0.00</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Fixture: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dup key, negative price, raw-looking key, +1,000 revenue: 7 critical failures, publish blocked, no folder, LATEST unchanged</a:t>
            </a:r>
            <a:endParaRPr lang="en-US" sz="1200" dirty="0"/>
          </a:p>
          <a:p>
            <a:pPr indent="0" marL="0">
              <a:spcAft>
                <a:spcPts val="600"/>
              </a:spcAft>
              <a:buNone/>
            </a:pPr>
            <a:r>
              <a:rPr lang="en-US" sz="1200" b="1" dirty="0">
                <a:solidFill>
                  <a:srgbClr val="1C7C7D"/>
                </a:solidFill>
                <a:latin typeface="Calibri" pitchFamily="34" charset="0"/>
                <a:ea typeface="Calibri" pitchFamily="34" charset="-122"/>
                <a:cs typeface="Calibri" pitchFamily="34" charset="-120"/>
              </a:rPr>
              <a:t>Returns: </a:t>
            </a:r>
            <a:pPr indent="0" marL="0">
              <a:spcAft>
                <a:spcPts val="600"/>
              </a:spcAft>
              <a:buNone/>
            </a:pPr>
            <a:r>
              <a:rPr lang="en-US" sz="1200" dirty="0">
                <a:solidFill>
                  <a:srgbClr val="1B2A38"/>
                </a:solidFill>
                <a:latin typeface="Calibri" pitchFamily="34" charset="0"/>
                <a:ea typeface="Calibri" pitchFamily="34" charset="-122"/>
                <a:cs typeface="Calibri" pitchFamily="34" charset="-120"/>
              </a:rPr>
              <a:t>17,974 cancellation lines pass (negative qty is valid)</a:t>
            </a:r>
            <a:endParaRPr lang="en-US" sz="1200" dirty="0"/>
          </a:p>
        </p:txBody>
      </p:sp>
      <p:sp>
        <p:nvSpPr>
          <p:cNvPr id="17"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reports/latest/validation_*.json, reconciliation.csv; reports/evidence/gate_failure_demo.json. GE 1.24.1; 0 warnings</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Bias detection</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Internal representation imbalance, not proof of population bias</a:t>
            </a:r>
            <a:endParaRPr lang="en-US" sz="1400" dirty="0"/>
          </a:p>
        </p:txBody>
      </p:sp>
      <p:graphicFrame>
        <p:nvGraphicFramePr>
          <p:cNvPr id="4" name="Chart 0" descr=""/>
          <p:cNvGraphicFramePr/>
          <p:nvPr/>
        </p:nvGraphicFramePr>
        <p:xfrm>
          <a:off x="365760" y="1143000"/>
          <a:ext cx="420624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572000" y="1143000"/>
          <a:ext cx="4206240" cy="2240280"/>
        </p:xfrm>
        <a:graphic xmlns:a="http://schemas.openxmlformats.org/drawingml/2006/main">
          <a:graphicData uri="http://schemas.openxmlformats.org/drawingml/2006/chart">
            <c:chart xmlns:c="http://schemas.openxmlformats.org/drawingml/2006/chart" r:id="rId2"/>
          </a:graphicData>
        </a:graphic>
      </p:graphicFrame>
      <p:sp>
        <p:nvSpPr>
          <p:cNvPr id="6" name="Finding card"/>
          <p:cNvSpPr/>
          <p:nvPr/>
        </p:nvSpPr>
        <p:spPr>
          <a:xfrm>
            <a:off x="457200" y="3474720"/>
            <a:ext cx="1920240" cy="914400"/>
          </a:xfrm>
          <a:prstGeom prst="roundRect">
            <a:avLst>
              <a:gd name="adj" fmla="val 8000"/>
            </a:avLst>
          </a:prstGeom>
          <a:solidFill>
            <a:srgbClr val="EEF3F5"/>
          </a:solidFill>
          <a:ln w="6350">
            <a:solidFill>
              <a:srgbClr val="EEF3F5"/>
            </a:solidFill>
            <a:prstDash val="solid"/>
          </a:ln>
        </p:spPr>
      </p:sp>
      <p:sp>
        <p:nvSpPr>
          <p:cNvPr id="7" name="Text 3"/>
          <p:cNvSpPr txBox="1"/>
          <p:nvPr/>
        </p:nvSpPr>
        <p:spPr>
          <a:xfrm>
            <a:off x="530352" y="3502152"/>
            <a:ext cx="1783080" cy="365760"/>
          </a:xfrm>
          <a:prstGeom prst="rect">
            <a:avLst/>
          </a:prstGeom>
          <a:noFill/>
          <a:ln/>
        </p:spPr>
        <p:txBody>
          <a:bodyPr wrap="square" lIns="0" tIns="0" rIns="0" bIns="0" rtlCol="0" anchor="ctr"/>
          <a:lstStyle/>
          <a:p>
            <a:pPr indent="0" marL="0">
              <a:buNone/>
            </a:pPr>
            <a:r>
              <a:rPr lang="en-US" sz="1800" b="1" dirty="0">
                <a:solidFill>
                  <a:srgbClr val="F2A541"/>
                </a:solidFill>
                <a:latin typeface="Cambria" pitchFamily="34" charset="0"/>
                <a:ea typeface="Cambria" pitchFamily="34" charset="-122"/>
                <a:cs typeface="Cambria" pitchFamily="34" charset="-120"/>
              </a:rPr>
              <a:t>92%</a:t>
            </a:r>
            <a:endParaRPr lang="en-US" sz="1800" dirty="0"/>
          </a:p>
        </p:txBody>
      </p:sp>
      <p:sp>
        <p:nvSpPr>
          <p:cNvPr id="8" name="Text 4"/>
          <p:cNvSpPr txBox="1"/>
          <p:nvPr/>
        </p:nvSpPr>
        <p:spPr>
          <a:xfrm>
            <a:off x="530352"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of lines from one country; effective countries 1.2</a:t>
            </a:r>
            <a:endParaRPr lang="en-US" sz="1000" dirty="0"/>
          </a:p>
        </p:txBody>
      </p:sp>
      <p:sp>
        <p:nvSpPr>
          <p:cNvPr id="9" name="Finding card"/>
          <p:cNvSpPr/>
          <p:nvPr/>
        </p:nvSpPr>
        <p:spPr>
          <a:xfrm>
            <a:off x="2542032" y="3474720"/>
            <a:ext cx="1920240" cy="914400"/>
          </a:xfrm>
          <a:prstGeom prst="roundRect">
            <a:avLst>
              <a:gd name="adj" fmla="val 8000"/>
            </a:avLst>
          </a:prstGeom>
          <a:solidFill>
            <a:srgbClr val="EEF3F5"/>
          </a:solidFill>
          <a:ln w="6350">
            <a:solidFill>
              <a:srgbClr val="EEF3F5"/>
            </a:solidFill>
            <a:prstDash val="solid"/>
          </a:ln>
        </p:spPr>
      </p:sp>
      <p:sp>
        <p:nvSpPr>
          <p:cNvPr id="10" name="Text 6"/>
          <p:cNvSpPr txBox="1"/>
          <p:nvPr/>
        </p:nvSpPr>
        <p:spPr>
          <a:xfrm>
            <a:off x="2615184" y="3502152"/>
            <a:ext cx="1783080" cy="365760"/>
          </a:xfrm>
          <a:prstGeom prst="rect">
            <a:avLst/>
          </a:prstGeom>
          <a:noFill/>
          <a:ln/>
        </p:spPr>
        <p:txBody>
          <a:bodyPr wrap="square" lIns="0" tIns="0" rIns="0" bIns="0" rtlCol="0" anchor="ctr"/>
          <a:lstStyle/>
          <a:p>
            <a:pPr indent="0" marL="0">
              <a:buNone/>
            </a:pPr>
            <a:r>
              <a:rPr lang="en-US" sz="1800" b="1" dirty="0">
                <a:solidFill>
                  <a:srgbClr val="D95D39"/>
                </a:solidFill>
                <a:latin typeface="Cambria" pitchFamily="34" charset="0"/>
                <a:ea typeface="Cambria" pitchFamily="34" charset="-122"/>
                <a:cs typeface="Cambria" pitchFamily="34" charset="-120"/>
              </a:rPr>
              <a:t>78%</a:t>
            </a:r>
            <a:endParaRPr lang="en-US" sz="1800" dirty="0"/>
          </a:p>
        </p:txBody>
      </p:sp>
      <p:sp>
        <p:nvSpPr>
          <p:cNvPr id="11" name="Text 7"/>
          <p:cNvSpPr txBox="1"/>
          <p:nvPr/>
        </p:nvSpPr>
        <p:spPr>
          <a:xfrm>
            <a:off x="2615184"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of lines have a Customer ID; 13.5% of revenue is unidentified</a:t>
            </a:r>
            <a:endParaRPr lang="en-US" sz="1000" dirty="0"/>
          </a:p>
        </p:txBody>
      </p:sp>
      <p:sp>
        <p:nvSpPr>
          <p:cNvPr id="12" name="Finding card"/>
          <p:cNvSpPr/>
          <p:nvPr/>
        </p:nvSpPr>
        <p:spPr>
          <a:xfrm>
            <a:off x="4626864" y="3474720"/>
            <a:ext cx="1920240" cy="914400"/>
          </a:xfrm>
          <a:prstGeom prst="roundRect">
            <a:avLst>
              <a:gd name="adj" fmla="val 8000"/>
            </a:avLst>
          </a:prstGeom>
          <a:solidFill>
            <a:srgbClr val="EEF3F5"/>
          </a:solidFill>
          <a:ln w="6350">
            <a:solidFill>
              <a:srgbClr val="EEF3F5"/>
            </a:solidFill>
            <a:prstDash val="solid"/>
          </a:ln>
        </p:spPr>
      </p:sp>
      <p:sp>
        <p:nvSpPr>
          <p:cNvPr id="13" name="Text 9"/>
          <p:cNvSpPr txBox="1"/>
          <p:nvPr/>
        </p:nvSpPr>
        <p:spPr>
          <a:xfrm>
            <a:off x="4700016" y="3502152"/>
            <a:ext cx="1783080" cy="365760"/>
          </a:xfrm>
          <a:prstGeom prst="rect">
            <a:avLst/>
          </a:prstGeom>
          <a:noFill/>
          <a:ln/>
        </p:spPr>
        <p:txBody>
          <a:bodyPr wrap="square" lIns="0" tIns="0" rIns="0" bIns="0" rtlCol="0" anchor="ctr"/>
          <a:lstStyle/>
          <a:p>
            <a:pPr indent="0" marL="0">
              <a:buNone/>
            </a:pPr>
            <a:r>
              <a:rPr lang="en-US" sz="1800" b="1" dirty="0">
                <a:solidFill>
                  <a:srgbClr val="1C7C7D"/>
                </a:solidFill>
                <a:latin typeface="Cambria" pitchFamily="34" charset="0"/>
                <a:ea typeface="Cambria" pitchFamily="34" charset="-122"/>
                <a:cs typeface="Cambria" pitchFamily="34" charset="-120"/>
              </a:rPr>
              <a:t>6.5% vs 2.3%</a:t>
            </a:r>
            <a:endParaRPr lang="en-US" sz="1800" dirty="0"/>
          </a:p>
        </p:txBody>
      </p:sp>
      <p:sp>
        <p:nvSpPr>
          <p:cNvPr id="14" name="Text 10"/>
          <p:cNvSpPr txBox="1"/>
          <p:nvPr/>
        </p:nvSpPr>
        <p:spPr>
          <a:xfrm>
            <a:off x="4700016"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cleaning removal: unidentified vs identified lines</a:t>
            </a:r>
            <a:endParaRPr lang="en-US" sz="1000" dirty="0"/>
          </a:p>
        </p:txBody>
      </p:sp>
      <p:sp>
        <p:nvSpPr>
          <p:cNvPr id="15" name="Finding card"/>
          <p:cNvSpPr/>
          <p:nvPr/>
        </p:nvSpPr>
        <p:spPr>
          <a:xfrm>
            <a:off x="6711696" y="3474720"/>
            <a:ext cx="1920240" cy="914400"/>
          </a:xfrm>
          <a:prstGeom prst="roundRect">
            <a:avLst>
              <a:gd name="adj" fmla="val 8000"/>
            </a:avLst>
          </a:prstGeom>
          <a:solidFill>
            <a:srgbClr val="EEF3F5"/>
          </a:solidFill>
          <a:ln w="6350">
            <a:solidFill>
              <a:srgbClr val="EEF3F5"/>
            </a:solidFill>
            <a:prstDash val="solid"/>
          </a:ln>
        </p:spPr>
      </p:sp>
      <p:sp>
        <p:nvSpPr>
          <p:cNvPr id="16" name="Text 12"/>
          <p:cNvSpPr txBox="1"/>
          <p:nvPr/>
        </p:nvSpPr>
        <p:spPr>
          <a:xfrm>
            <a:off x="6784848" y="3502152"/>
            <a:ext cx="1783080" cy="365760"/>
          </a:xfrm>
          <a:prstGeom prst="rect">
            <a:avLst/>
          </a:prstGeom>
          <a:noFill/>
          <a:ln/>
        </p:spPr>
        <p:txBody>
          <a:bodyPr wrap="square" lIns="0" tIns="0" rIns="0" bIns="0" rtlCol="0" anchor="ctr"/>
          <a:lstStyle/>
          <a:p>
            <a:pPr indent="0" marL="0">
              <a:buNone/>
            </a:pPr>
            <a:r>
              <a:rPr lang="en-US" sz="1800" b="1" dirty="0">
                <a:solidFill>
                  <a:srgbClr val="12344D"/>
                </a:solidFill>
                <a:latin typeface="Cambria" pitchFamily="34" charset="0"/>
                <a:ea typeface="Cambria" pitchFamily="34" charset="-122"/>
                <a:cs typeface="Cambria" pitchFamily="34" charset="-120"/>
              </a:rPr>
              <a:t>37%</a:t>
            </a:r>
            <a:endParaRPr lang="en-US" sz="1800" dirty="0"/>
          </a:p>
        </p:txBody>
      </p:sp>
      <p:sp>
        <p:nvSpPr>
          <p:cNvPr id="17" name="Text 13"/>
          <p:cNvSpPr txBox="1"/>
          <p:nvPr/>
        </p:nvSpPr>
        <p:spPr>
          <a:xfrm>
            <a:off x="6784848" y="3867912"/>
            <a:ext cx="1783080" cy="502920"/>
          </a:xfrm>
          <a:prstGeom prst="rect">
            <a:avLst/>
          </a:prstGeom>
          <a:noFill/>
          <a:ln/>
        </p:spPr>
        <p:txBody>
          <a:bodyPr wrap="square" lIns="0" tIns="0" rIns="0" bIns="0" rtlCol="0" anchor="t"/>
          <a:lstStyle/>
          <a:p>
            <a:pPr indent="0" marL="0">
              <a:buNone/>
            </a:pPr>
            <a:r>
              <a:rPr lang="en-US" sz="1000" dirty="0">
                <a:solidFill>
                  <a:srgbClr val="1B2A38"/>
                </a:solidFill>
                <a:latin typeface="Calibri" pitchFamily="34" charset="0"/>
                <a:ea typeface="Calibri" pitchFamily="34" charset="-122"/>
                <a:cs typeface="Calibri" pitchFamily="34" charset="-120"/>
              </a:rPr>
              <a:t>of revenue in Oct-Dec; Dec 2011 partial</a:t>
            </a:r>
            <a:endParaRPr lang="en-US" sz="1000" dirty="0"/>
          </a:p>
        </p:txBody>
      </p:sp>
      <p:sp>
        <p:nvSpPr>
          <p:cNvPr id="18" name="Text 14"/>
          <p:cNvSpPr txBox="1"/>
          <p:nvPr/>
        </p:nvSpPr>
        <p:spPr>
          <a:xfrm>
            <a:off x="457200" y="4434840"/>
            <a:ext cx="8229600" cy="347472"/>
          </a:xfrm>
          <a:prstGeom prst="rect">
            <a:avLst/>
          </a:prstGeom>
          <a:noFill/>
          <a:ln/>
        </p:spPr>
        <p:txBody>
          <a:bodyPr wrap="square" lIns="0" tIns="0" rIns="0" bIns="0" rtlCol="0" anchor="t"/>
          <a:lstStyle/>
          <a:p>
            <a:pPr indent="0" marL="0">
              <a:buNone/>
            </a:pPr>
            <a:r>
              <a:rPr lang="en-US" sz="1100" i="1" dirty="0">
                <a:solidFill>
                  <a:srgbClr val="5B6B79"/>
                </a:solidFill>
                <a:latin typeface="Calibri" pitchFamily="34" charset="0"/>
                <a:ea typeface="Calibri" pitchFamily="34" charset="-122"/>
                <a:cs typeface="Calibri" pitchFamily="34" charset="-120"/>
              </a:rPr>
              <a:t>Mitigation: report group sizes, group small countries, keep unidentified sales in revenue analytics, flag partial months. No demographic fields exist; none inferred.</a:t>
            </a:r>
            <a:endParaRPr lang="en-US" sz="1100" dirty="0"/>
          </a:p>
        </p:txBody>
      </p:sp>
      <p:sp>
        <p:nvSpPr>
          <p:cNvPr id="19"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reports/latest/bias_report.json (run-001). Screening band 0.8-1.25, min 100 invoices, 95% Wilson CI; no external benchmark</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Privacy and governance</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Pseudonymous, not anonymous: controls built on the Module 2 Privacy Plan</a:t>
            </a:r>
            <a:endParaRPr lang="en-US" sz="1400" dirty="0"/>
          </a:p>
        </p:txBody>
      </p:sp>
      <p:graphicFrame>
        <p:nvGraphicFramePr>
          <p:cNvPr id="12" name="Identifier inventory"/>
          <p:cNvGraphicFramePr>
            <a:graphicFrameLocks noGrp="1"/>
          </p:cNvGraphicFramePr>
          <p:nvPr>
            <p:extLst>
              <p:ext uri="{D42A27DB-BD31-4B8C-83A1-F6EECF244321}">
                <p14:modId xmlns:p14="http://schemas.microsoft.com/office/powerpoint/2010/main" val="1579011935"/>
              </p:ext>
            </p:extLst>
          </p:nvPr>
        </p:nvGraphicFramePr>
        <p:xfrm>
          <a:off x="457200" y="1188720"/>
          <a:ext cx="4846320" cy="914400"/>
        </p:xfrm>
        <a:graphic>
          <a:graphicData uri="http://schemas.openxmlformats.org/drawingml/2006/table">
            <a:tbl>
              <a:tblPr/>
              <a:tblGrid>
                <a:gridCol w="1234440"/>
                <a:gridCol w="1828800"/>
                <a:gridCol w="17830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 the data</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Treatment</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12344D"/>
                    </a:solidFill>
                  </a:tcPr>
                </a:tc>
              </a:tr>
              <a:tr h="566928">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Direct identifiers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None found; 71 staff first names in descriptions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Redacted on ingestion</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66928">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Pseudonymous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Customer ID (22.8% missing)</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Keyed HMAC-SHA256; secret from env var</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r h="566928">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Quasi-identifiers</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Country, timestamp, basket</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20 countries under 5 customers flagged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B2A38"/>
                          </a:solidFill>
                          <a:latin typeface="Calibri" pitchFamily="34" charset="0"/>
                          <a:ea typeface="Calibri" pitchFamily="34" charset="-122"/>
                          <a:cs typeface="Calibri" pitchFamily="34" charset="-120"/>
                        </a:rPr>
                        <a:t>Sensitive / protected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None present; none inferred</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c>
                  <a:txBody>
                    <a:bodyPr/>
                    <a:lstStyle/>
                    <a:p>
                      <a:pPr indent="0" marL="0">
                        <a:buNone/>
                      </a:pPr>
                      <a:r>
                        <a:rPr lang="en-US" sz="1100" dirty="0">
                          <a:solidFill>
                            <a:srgbClr val="1B2A38"/>
                          </a:solidFill>
                          <a:latin typeface="Calibri" pitchFamily="34" charset="0"/>
                          <a:ea typeface="Calibri" pitchFamily="34" charset="-122"/>
                          <a:cs typeface="Calibri" pitchFamily="34" charset="-120"/>
                        </a:rPr>
                        <a:t>Fairness limited to country</a:t>
                      </a:r>
                      <a:endParaRPr lang="en-US" sz="1100" dirty="0">
                        <a:latin typeface="Calibri" charset="0"/>
                        <a:ea typeface="Calibri" charset="0"/>
                        <a:cs typeface="Calibri" charset="0"/>
                      </a:endParaRPr>
                    </a:p>
                  </a:txBody>
                  <a:tcPr marL="64008" marR="64008" marT="18288" marB="18288" anchor="ctr">
                    <a:lnL w="6350" cap="flat" cmpd="sng" algn="ctr">
                      <a:solidFill>
                        <a:srgbClr val="D5DEE3"/>
                      </a:solidFill>
                      <a:prstDash val="solid"/>
                      <a:round/>
                      <a:headEnd type="none" w="med" len="med"/>
                      <a:tailEnd type="none" w="med" len="med"/>
                    </a:lnL>
                    <a:lnR w="6350" cap="flat" cmpd="sng" algn="ctr">
                      <a:solidFill>
                        <a:srgbClr val="D5DEE3"/>
                      </a:solidFill>
                      <a:prstDash val="solid"/>
                      <a:round/>
                      <a:headEnd type="none" w="med" len="med"/>
                      <a:tailEnd type="none" w="med" len="med"/>
                    </a:lnR>
                    <a:lnT w="6350" cap="flat" cmpd="sng" algn="ctr">
                      <a:solidFill>
                        <a:srgbClr val="D5DEE3"/>
                      </a:solidFill>
                      <a:prstDash val="solid"/>
                      <a:round/>
                      <a:headEnd type="none" w="med" len="med"/>
                      <a:tailEnd type="none" w="med" len="med"/>
                    </a:lnT>
                    <a:lnB w="6350" cap="flat" cmpd="sng" algn="ctr">
                      <a:solidFill>
                        <a:srgbClr val="D5DEE3"/>
                      </a:solidFill>
                      <a:prstDash val="solid"/>
                      <a:round/>
                      <a:headEnd type="none" w="med" len="med"/>
                      <a:tailEnd type="none" w="med" len="med"/>
                    </a:lnB>
                    <a:solidFill>
                      <a:srgbClr val="EEF3F5"/>
                    </a:solidFill>
                  </a:tcPr>
                </a:tc>
              </a:tr>
            </a:tbl>
          </a:graphicData>
        </a:graphic>
      </p:graphicFrame>
      <p:sp>
        <p:nvSpPr>
          <p:cNvPr id="5" name="Accuracy note"/>
          <p:cNvSpPr/>
          <p:nvPr/>
        </p:nvSpPr>
        <p:spPr>
          <a:xfrm>
            <a:off x="457200" y="3840480"/>
            <a:ext cx="4846320" cy="822960"/>
          </a:xfrm>
          <a:prstGeom prst="roundRect">
            <a:avLst>
              <a:gd name="adj" fmla="val 8889"/>
            </a:avLst>
          </a:prstGeom>
          <a:solidFill>
            <a:srgbClr val="FFF3DC"/>
          </a:solidFill>
          <a:ln w="6350">
            <a:solidFill>
              <a:srgbClr val="FFF3DC"/>
            </a:solidFill>
            <a:prstDash val="solid"/>
          </a:ln>
        </p:spPr>
      </p:sp>
      <p:sp>
        <p:nvSpPr>
          <p:cNvPr id="6" name="Text 3"/>
          <p:cNvSpPr txBox="1"/>
          <p:nvPr/>
        </p:nvSpPr>
        <p:spPr>
          <a:xfrm>
            <a:off x="566928" y="3858768"/>
            <a:ext cx="4663440" cy="786384"/>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Pseudonymised data stays personal data: whoever holds the secret or raw IDs can re-link. Published S2 tables need restricted access.</a:t>
            </a:r>
            <a:endParaRPr lang="en-US" sz="1100" dirty="0"/>
          </a:p>
        </p:txBody>
      </p:sp>
      <p:sp>
        <p:nvSpPr>
          <p:cNvPr id="7" name="Access card"/>
          <p:cNvSpPr/>
          <p:nvPr/>
        </p:nvSpPr>
        <p:spPr>
          <a:xfrm>
            <a:off x="5486400" y="1188720"/>
            <a:ext cx="3200400" cy="1737360"/>
          </a:xfrm>
          <a:prstGeom prst="roundRect">
            <a:avLst>
              <a:gd name="adj" fmla="val 4211"/>
            </a:avLst>
          </a:prstGeom>
          <a:solidFill>
            <a:srgbClr val="EEF3F5"/>
          </a:solidFill>
          <a:ln w="6350">
            <a:solidFill>
              <a:srgbClr val="EEF3F5"/>
            </a:solidFill>
            <a:prstDash val="solid"/>
          </a:ln>
        </p:spPr>
      </p:sp>
      <p:sp>
        <p:nvSpPr>
          <p:cNvPr id="8" name="Text 5"/>
          <p:cNvSpPr txBox="1"/>
          <p:nvPr/>
        </p:nvSpPr>
        <p:spPr>
          <a:xfrm>
            <a:off x="5596128" y="1243584"/>
            <a:ext cx="2103120" cy="274320"/>
          </a:xfrm>
          <a:prstGeom prst="rect">
            <a:avLst/>
          </a:prstGeom>
          <a:noFill/>
          <a:ln/>
        </p:spPr>
        <p:txBody>
          <a:bodyPr wrap="square" lIns="0" tIns="0" rIns="0" bIns="0" rtlCol="0" anchor="ctr"/>
          <a:lstStyle/>
          <a:p>
            <a:pPr indent="0" marL="0">
              <a:buNone/>
            </a:pPr>
            <a:r>
              <a:rPr lang="en-US" sz="1300" b="1" dirty="0">
                <a:solidFill>
                  <a:srgbClr val="12344D"/>
                </a:solidFill>
                <a:latin typeface="Cambria" pitchFamily="34" charset="0"/>
                <a:ea typeface="Cambria" pitchFamily="34" charset="-122"/>
                <a:cs typeface="Cambria" pitchFamily="34" charset="-120"/>
              </a:rPr>
              <a:t>Access and retention</a:t>
            </a:r>
            <a:endParaRPr lang="en-US" sz="1300" dirty="0"/>
          </a:p>
        </p:txBody>
      </p:sp>
      <p:sp>
        <p:nvSpPr>
          <p:cNvPr id="9" name="Status tag"/>
          <p:cNvSpPr/>
          <p:nvPr/>
        </p:nvSpPr>
        <p:spPr>
          <a:xfrm>
            <a:off x="7680960" y="1261872"/>
            <a:ext cx="914400" cy="219456"/>
          </a:xfrm>
          <a:prstGeom prst="roundRect">
            <a:avLst>
              <a:gd name="adj" fmla="val 20833"/>
            </a:avLst>
          </a:prstGeom>
          <a:solidFill>
            <a:srgbClr val="F2A541"/>
          </a:solidFill>
          <a:ln w="12700">
            <a:solidFill>
              <a:srgbClr val="F2A541"/>
            </a:solidFill>
            <a:prstDash val="solid"/>
          </a:ln>
        </p:spPr>
      </p:sp>
      <p:sp>
        <p:nvSpPr>
          <p:cNvPr id="10" name="Text 7"/>
          <p:cNvSpPr txBox="1"/>
          <p:nvPr/>
        </p:nvSpPr>
        <p:spPr>
          <a:xfrm>
            <a:off x="7680960" y="1261872"/>
            <a:ext cx="91440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PROPOSED</a:t>
            </a:r>
            <a:endParaRPr lang="en-US" sz="1000" dirty="0"/>
          </a:p>
        </p:txBody>
      </p:sp>
      <p:sp>
        <p:nvSpPr>
          <p:cNvPr id="11" name="Text 8"/>
          <p:cNvSpPr txBox="1"/>
          <p:nvPr/>
        </p:nvSpPr>
        <p:spPr>
          <a:xfrm>
            <a:off x="5596128" y="1572768"/>
            <a:ext cx="3017520" cy="13258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Pipeline service: raw, bronze</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Stewards: silver; Marketing: S2 tables</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Aggregates: all stakeholders</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Retention: silver 30 d, published 730 d</a:t>
            </a:r>
            <a:endParaRPr lang="en-US" sz="1100" dirty="0"/>
          </a:p>
        </p:txBody>
      </p:sp>
      <p:sp>
        <p:nvSpPr>
          <p:cNvPr id="12" name="Audit card"/>
          <p:cNvSpPr/>
          <p:nvPr/>
        </p:nvSpPr>
        <p:spPr>
          <a:xfrm>
            <a:off x="5486400" y="3017520"/>
            <a:ext cx="3200400" cy="1645920"/>
          </a:xfrm>
          <a:prstGeom prst="roundRect">
            <a:avLst>
              <a:gd name="adj" fmla="val 4444"/>
            </a:avLst>
          </a:prstGeom>
          <a:solidFill>
            <a:srgbClr val="DCEFEF"/>
          </a:solidFill>
          <a:ln w="6350">
            <a:solidFill>
              <a:srgbClr val="DCEFEF"/>
            </a:solidFill>
            <a:prstDash val="solid"/>
          </a:ln>
        </p:spPr>
      </p:sp>
      <p:sp>
        <p:nvSpPr>
          <p:cNvPr id="13" name="Text 10"/>
          <p:cNvSpPr txBox="1"/>
          <p:nvPr/>
        </p:nvSpPr>
        <p:spPr>
          <a:xfrm>
            <a:off x="5596128" y="3072384"/>
            <a:ext cx="2103120" cy="274320"/>
          </a:xfrm>
          <a:prstGeom prst="rect">
            <a:avLst/>
          </a:prstGeom>
          <a:noFill/>
          <a:ln/>
        </p:spPr>
        <p:txBody>
          <a:bodyPr wrap="square" lIns="0" tIns="0" rIns="0" bIns="0" rtlCol="0" anchor="ctr"/>
          <a:lstStyle/>
          <a:p>
            <a:pPr indent="0" marL="0">
              <a:buNone/>
            </a:pPr>
            <a:r>
              <a:rPr lang="en-US" sz="1300" b="1" dirty="0">
                <a:solidFill>
                  <a:srgbClr val="12344D"/>
                </a:solidFill>
                <a:latin typeface="Cambria" pitchFamily="34" charset="0"/>
                <a:ea typeface="Cambria" pitchFamily="34" charset="-122"/>
                <a:cs typeface="Cambria" pitchFamily="34" charset="-120"/>
              </a:rPr>
              <a:t>Privacy audit log</a:t>
            </a:r>
            <a:endParaRPr lang="en-US" sz="1300" dirty="0"/>
          </a:p>
        </p:txBody>
      </p:sp>
      <p:sp>
        <p:nvSpPr>
          <p:cNvPr id="14" name="Status tag"/>
          <p:cNvSpPr/>
          <p:nvPr/>
        </p:nvSpPr>
        <p:spPr>
          <a:xfrm>
            <a:off x="7406640" y="3090672"/>
            <a:ext cx="1188720" cy="219456"/>
          </a:xfrm>
          <a:prstGeom prst="roundRect">
            <a:avLst>
              <a:gd name="adj" fmla="val 20833"/>
            </a:avLst>
          </a:prstGeom>
          <a:solidFill>
            <a:srgbClr val="2E8B57"/>
          </a:solidFill>
          <a:ln w="12700">
            <a:solidFill>
              <a:srgbClr val="2E8B57"/>
            </a:solidFill>
            <a:prstDash val="solid"/>
          </a:ln>
        </p:spPr>
      </p:sp>
      <p:sp>
        <p:nvSpPr>
          <p:cNvPr id="15" name="Text 12"/>
          <p:cNvSpPr txBox="1"/>
          <p:nvPr/>
        </p:nvSpPr>
        <p:spPr>
          <a:xfrm>
            <a:off x="7406640" y="3090672"/>
            <a:ext cx="1188720" cy="21945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IMPLEMENTED</a:t>
            </a:r>
            <a:endParaRPr lang="en-US" sz="1000" dirty="0"/>
          </a:p>
        </p:txBody>
      </p:sp>
      <p:sp>
        <p:nvSpPr>
          <p:cNvPr id="16" name="Text 13"/>
          <p:cNvSpPr txBox="1"/>
          <p:nvPr/>
        </p:nvSpPr>
        <p:spPr>
          <a:xfrm>
            <a:off x="5596128" y="3401568"/>
            <a:ext cx="301752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32 events: run id, time, actor, operation, dataset, rows, outcome</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0 customer keys or secrets found in the log</a:t>
            </a:r>
            <a:endParaRPr lang="en-US" sz="1100" dirty="0"/>
          </a:p>
          <a:p>
            <a:pPr marL="342900" indent="-342900">
              <a:spcAft>
                <a:spcPts val="300"/>
              </a:spcAft>
              <a:buSzPct val="100000"/>
              <a:buChar char="•"/>
            </a:pPr>
            <a:r>
              <a:rPr lang="en-US" sz="1100" dirty="0">
                <a:solidFill>
                  <a:srgbClr val="1B2A38"/>
                </a:solidFill>
                <a:latin typeface="Calibri" pitchFamily="34" charset="0"/>
                <a:ea typeface="Calibri" pitchFamily="34" charset="-122"/>
                <a:cs typeface="Calibri" pitchFamily="34" charset="-120"/>
              </a:rPr>
              <a:t>Covers pipeline access only; platform logs needed elsewhere</a:t>
            </a:r>
            <a:endParaRPr lang="en-US" sz="1100" dirty="0"/>
          </a:p>
        </p:txBody>
      </p:sp>
      <p:sp>
        <p:nvSpPr>
          <p:cNvPr id="17"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Source: reports/latest/privacy_report.json, audit_events.jsonl; docs/governance.md; Module 2 Privacy Plan s6.1. Roles/retention are proposals</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12344D"/>
                </a:solidFill>
                <a:latin typeface="Cambria" pitchFamily="34" charset="0"/>
                <a:ea typeface="Cambria" pitchFamily="34" charset="-122"/>
                <a:cs typeface="Cambria" pitchFamily="34" charset="-120"/>
              </a:rPr>
              <a:t>Execution evidence and repository</a:t>
            </a:r>
            <a:endParaRPr lang="en-US" sz="2800" dirty="0"/>
          </a:p>
        </p:txBody>
      </p:sp>
      <p:sp>
        <p:nvSpPr>
          <p:cNvPr id="3" name="Subtitle"/>
          <p:cNvSpPr txBox="1"/>
          <p:nvPr/>
        </p:nvSpPr>
        <p:spPr>
          <a:xfrm>
            <a:off x="457200" y="768096"/>
            <a:ext cx="8229600" cy="292608"/>
          </a:xfrm>
          <a:prstGeom prst="rect">
            <a:avLst/>
          </a:prstGeom>
          <a:noFill/>
          <a:ln/>
        </p:spPr>
        <p:txBody>
          <a:bodyPr wrap="square" lIns="0" tIns="0" rIns="0" bIns="0" rtlCol="0" anchor="ctr"/>
          <a:lstStyle/>
          <a:p>
            <a:pPr indent="0" marL="0">
              <a:buNone/>
            </a:pPr>
            <a:r>
              <a:rPr lang="en-US" sz="1400" dirty="0">
                <a:solidFill>
                  <a:srgbClr val="5B6B79"/>
                </a:solidFill>
                <a:latin typeface="Calibri" pitchFamily="34" charset="0"/>
                <a:ea typeface="Calibri" pitchFamily="34" charset="-122"/>
                <a:cs typeface="Calibri" pitchFamily="34" charset="-120"/>
              </a:rPr>
              <a:t>What was run and verified, and what was not</a:t>
            </a:r>
            <a:endParaRPr lang="en-US" sz="1400" dirty="0"/>
          </a:p>
        </p:txBody>
      </p:sp>
      <p:sp>
        <p:nvSpPr>
          <p:cNvPr id="4" name="Evidence row"/>
          <p:cNvSpPr/>
          <p:nvPr/>
        </p:nvSpPr>
        <p:spPr>
          <a:xfrm>
            <a:off x="457200" y="1188720"/>
            <a:ext cx="4663440" cy="475488"/>
          </a:xfrm>
          <a:prstGeom prst="roundRect">
            <a:avLst>
              <a:gd name="adj" fmla="val 15385"/>
            </a:avLst>
          </a:prstGeom>
          <a:solidFill>
            <a:srgbClr val="EEF3F5"/>
          </a:solidFill>
          <a:ln w="6350">
            <a:solidFill>
              <a:srgbClr val="EEF3F5"/>
            </a:solidFill>
            <a:prstDash val="solid"/>
          </a:ln>
        </p:spPr>
      </p:sp>
      <p:sp>
        <p:nvSpPr>
          <p:cNvPr id="5" name="Shape 3"/>
          <p:cNvSpPr/>
          <p:nvPr/>
        </p:nvSpPr>
        <p:spPr>
          <a:xfrm>
            <a:off x="566928" y="1307592"/>
            <a:ext cx="237744" cy="237744"/>
          </a:xfrm>
          <a:prstGeom prst="ellipse">
            <a:avLst/>
          </a:prstGeom>
          <a:solidFill>
            <a:srgbClr val="2E8B57"/>
          </a:solidFill>
          <a:ln w="12700">
            <a:solidFill>
              <a:srgbClr val="2E8B57"/>
            </a:solidFill>
            <a:prstDash val="solid"/>
          </a:ln>
        </p:spPr>
      </p:sp>
      <p:sp>
        <p:nvSpPr>
          <p:cNvPr id="6" name="Text 4"/>
          <p:cNvSpPr txBox="1"/>
          <p:nvPr/>
        </p:nvSpPr>
        <p:spPr>
          <a:xfrm>
            <a:off x="566928" y="13075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7" name="Text 5"/>
          <p:cNvSpPr txBox="1"/>
          <p:nvPr/>
        </p:nvSpPr>
        <p:spPr>
          <a:xfrm>
            <a:off x="914400" y="118872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Pipeline run</a:t>
            </a:r>
            <a:endParaRPr lang="en-US" sz="1200" dirty="0"/>
          </a:p>
        </p:txBody>
      </p:sp>
      <p:sp>
        <p:nvSpPr>
          <p:cNvPr id="8" name="Text 6"/>
          <p:cNvSpPr txBox="1"/>
          <p:nvPr/>
        </p:nvSpPr>
        <p:spPr>
          <a:xfrm>
            <a:off x="2514600" y="118872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2 runs SUCCEEDED, 34 s each, 1,067,371 rows</a:t>
            </a:r>
            <a:endParaRPr lang="en-US" sz="1100" dirty="0"/>
          </a:p>
        </p:txBody>
      </p:sp>
      <p:sp>
        <p:nvSpPr>
          <p:cNvPr id="9" name="Evidence row"/>
          <p:cNvSpPr/>
          <p:nvPr/>
        </p:nvSpPr>
        <p:spPr>
          <a:xfrm>
            <a:off x="457200" y="1737360"/>
            <a:ext cx="4663440" cy="475488"/>
          </a:xfrm>
          <a:prstGeom prst="roundRect">
            <a:avLst>
              <a:gd name="adj" fmla="val 15385"/>
            </a:avLst>
          </a:prstGeom>
          <a:solidFill>
            <a:srgbClr val="EEF3F5"/>
          </a:solidFill>
          <a:ln w="6350">
            <a:solidFill>
              <a:srgbClr val="EEF3F5"/>
            </a:solidFill>
            <a:prstDash val="solid"/>
          </a:ln>
        </p:spPr>
      </p:sp>
      <p:sp>
        <p:nvSpPr>
          <p:cNvPr id="10" name="Shape 8"/>
          <p:cNvSpPr/>
          <p:nvPr/>
        </p:nvSpPr>
        <p:spPr>
          <a:xfrm>
            <a:off x="566928" y="1856232"/>
            <a:ext cx="237744" cy="237744"/>
          </a:xfrm>
          <a:prstGeom prst="ellipse">
            <a:avLst/>
          </a:prstGeom>
          <a:solidFill>
            <a:srgbClr val="2E8B57"/>
          </a:solidFill>
          <a:ln w="12700">
            <a:solidFill>
              <a:srgbClr val="2E8B57"/>
            </a:solidFill>
            <a:prstDash val="solid"/>
          </a:ln>
        </p:spPr>
      </p:sp>
      <p:sp>
        <p:nvSpPr>
          <p:cNvPr id="11" name="Text 9"/>
          <p:cNvSpPr txBox="1"/>
          <p:nvPr/>
        </p:nvSpPr>
        <p:spPr>
          <a:xfrm>
            <a:off x="566928" y="185623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914400" y="173736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Validation</a:t>
            </a:r>
            <a:endParaRPr lang="en-US" sz="1200" dirty="0"/>
          </a:p>
        </p:txBody>
      </p:sp>
      <p:sp>
        <p:nvSpPr>
          <p:cNvPr id="13" name="Text 11"/>
          <p:cNvSpPr txBox="1"/>
          <p:nvPr/>
        </p:nvSpPr>
        <p:spPr>
          <a:xfrm>
            <a:off x="2514600" y="173736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115 expectations + 13 reconciliations passed</a:t>
            </a:r>
            <a:endParaRPr lang="en-US" sz="1100" dirty="0"/>
          </a:p>
        </p:txBody>
      </p:sp>
      <p:sp>
        <p:nvSpPr>
          <p:cNvPr id="14" name="Evidence row"/>
          <p:cNvSpPr/>
          <p:nvPr/>
        </p:nvSpPr>
        <p:spPr>
          <a:xfrm>
            <a:off x="457200" y="2286000"/>
            <a:ext cx="4663440" cy="475488"/>
          </a:xfrm>
          <a:prstGeom prst="roundRect">
            <a:avLst>
              <a:gd name="adj" fmla="val 15385"/>
            </a:avLst>
          </a:prstGeom>
          <a:solidFill>
            <a:srgbClr val="EEF3F5"/>
          </a:solidFill>
          <a:ln w="6350">
            <a:solidFill>
              <a:srgbClr val="EEF3F5"/>
            </a:solidFill>
            <a:prstDash val="solid"/>
          </a:ln>
        </p:spPr>
      </p:sp>
      <p:sp>
        <p:nvSpPr>
          <p:cNvPr id="15" name="Shape 13"/>
          <p:cNvSpPr/>
          <p:nvPr/>
        </p:nvSpPr>
        <p:spPr>
          <a:xfrm>
            <a:off x="566928" y="2404872"/>
            <a:ext cx="237744" cy="237744"/>
          </a:xfrm>
          <a:prstGeom prst="ellipse">
            <a:avLst/>
          </a:prstGeom>
          <a:solidFill>
            <a:srgbClr val="2E8B57"/>
          </a:solidFill>
          <a:ln w="12700">
            <a:solidFill>
              <a:srgbClr val="2E8B57"/>
            </a:solidFill>
            <a:prstDash val="solid"/>
          </a:ln>
        </p:spPr>
      </p:sp>
      <p:sp>
        <p:nvSpPr>
          <p:cNvPr id="16" name="Text 14"/>
          <p:cNvSpPr txBox="1"/>
          <p:nvPr/>
        </p:nvSpPr>
        <p:spPr>
          <a:xfrm>
            <a:off x="566928"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7" name="Text 15"/>
          <p:cNvSpPr txBox="1"/>
          <p:nvPr/>
        </p:nvSpPr>
        <p:spPr>
          <a:xfrm>
            <a:off x="914400" y="228600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Tests</a:t>
            </a:r>
            <a:endParaRPr lang="en-US" sz="1200" dirty="0"/>
          </a:p>
        </p:txBody>
      </p:sp>
      <p:sp>
        <p:nvSpPr>
          <p:cNvPr id="18" name="Text 16"/>
          <p:cNvSpPr txBox="1"/>
          <p:nvPr/>
        </p:nvSpPr>
        <p:spPr>
          <a:xfrm>
            <a:off x="2514600" y="228600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64 passed in a fresh pinned venv</a:t>
            </a:r>
            <a:endParaRPr lang="en-US" sz="1100" dirty="0"/>
          </a:p>
        </p:txBody>
      </p:sp>
      <p:sp>
        <p:nvSpPr>
          <p:cNvPr id="19" name="Evidence row"/>
          <p:cNvSpPr/>
          <p:nvPr/>
        </p:nvSpPr>
        <p:spPr>
          <a:xfrm>
            <a:off x="457200" y="2834640"/>
            <a:ext cx="4663440" cy="475488"/>
          </a:xfrm>
          <a:prstGeom prst="roundRect">
            <a:avLst>
              <a:gd name="adj" fmla="val 15385"/>
            </a:avLst>
          </a:prstGeom>
          <a:solidFill>
            <a:srgbClr val="EEF3F5"/>
          </a:solidFill>
          <a:ln w="6350">
            <a:solidFill>
              <a:srgbClr val="EEF3F5"/>
            </a:solidFill>
            <a:prstDash val="solid"/>
          </a:ln>
        </p:spPr>
      </p:sp>
      <p:sp>
        <p:nvSpPr>
          <p:cNvPr id="20" name="Shape 18"/>
          <p:cNvSpPr/>
          <p:nvPr/>
        </p:nvSpPr>
        <p:spPr>
          <a:xfrm>
            <a:off x="566928" y="2953512"/>
            <a:ext cx="237744" cy="237744"/>
          </a:xfrm>
          <a:prstGeom prst="ellipse">
            <a:avLst/>
          </a:prstGeom>
          <a:solidFill>
            <a:srgbClr val="2E8B57"/>
          </a:solidFill>
          <a:ln w="12700">
            <a:solidFill>
              <a:srgbClr val="2E8B57"/>
            </a:solidFill>
            <a:prstDash val="solid"/>
          </a:ln>
        </p:spPr>
      </p:sp>
      <p:sp>
        <p:nvSpPr>
          <p:cNvPr id="21" name="Text 19"/>
          <p:cNvSpPr txBox="1"/>
          <p:nvPr/>
        </p:nvSpPr>
        <p:spPr>
          <a:xfrm>
            <a:off x="566928" y="295351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914400" y="283464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Failing fixture</a:t>
            </a:r>
            <a:endParaRPr lang="en-US" sz="1200" dirty="0"/>
          </a:p>
        </p:txBody>
      </p:sp>
      <p:sp>
        <p:nvSpPr>
          <p:cNvPr id="23" name="Text 21"/>
          <p:cNvSpPr txBox="1"/>
          <p:nvPr/>
        </p:nvSpPr>
        <p:spPr>
          <a:xfrm>
            <a:off x="2514600" y="283464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7 critical failures; publication blocked</a:t>
            </a:r>
            <a:endParaRPr lang="en-US" sz="1100" dirty="0"/>
          </a:p>
        </p:txBody>
      </p:sp>
      <p:sp>
        <p:nvSpPr>
          <p:cNvPr id="24" name="Evidence row"/>
          <p:cNvSpPr/>
          <p:nvPr/>
        </p:nvSpPr>
        <p:spPr>
          <a:xfrm>
            <a:off x="457200" y="3383280"/>
            <a:ext cx="4663440" cy="475488"/>
          </a:xfrm>
          <a:prstGeom prst="roundRect">
            <a:avLst>
              <a:gd name="adj" fmla="val 15385"/>
            </a:avLst>
          </a:prstGeom>
          <a:solidFill>
            <a:srgbClr val="EEF3F5"/>
          </a:solidFill>
          <a:ln w="6350">
            <a:solidFill>
              <a:srgbClr val="EEF3F5"/>
            </a:solidFill>
            <a:prstDash val="solid"/>
          </a:ln>
        </p:spPr>
      </p:sp>
      <p:sp>
        <p:nvSpPr>
          <p:cNvPr id="25" name="Shape 23"/>
          <p:cNvSpPr/>
          <p:nvPr/>
        </p:nvSpPr>
        <p:spPr>
          <a:xfrm>
            <a:off x="566928" y="3502152"/>
            <a:ext cx="237744" cy="237744"/>
          </a:xfrm>
          <a:prstGeom prst="ellipse">
            <a:avLst/>
          </a:prstGeom>
          <a:solidFill>
            <a:srgbClr val="2E8B57"/>
          </a:solidFill>
          <a:ln w="12700">
            <a:solidFill>
              <a:srgbClr val="2E8B57"/>
            </a:solidFill>
            <a:prstDash val="solid"/>
          </a:ln>
        </p:spPr>
      </p:sp>
      <p:sp>
        <p:nvSpPr>
          <p:cNvPr id="26" name="Text 24"/>
          <p:cNvSpPr txBox="1"/>
          <p:nvPr/>
        </p:nvSpPr>
        <p:spPr>
          <a:xfrm>
            <a:off x="566928" y="350215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914400" y="338328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Reproducibility</a:t>
            </a:r>
            <a:endParaRPr lang="en-US" sz="1200" dirty="0"/>
          </a:p>
        </p:txBody>
      </p:sp>
      <p:sp>
        <p:nvSpPr>
          <p:cNvPr id="28" name="Text 26"/>
          <p:cNvSpPr txBox="1"/>
          <p:nvPr/>
        </p:nvSpPr>
        <p:spPr>
          <a:xfrm>
            <a:off x="2514600" y="338328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7/7 tables identical</a:t>
            </a:r>
            <a:endParaRPr lang="en-US" sz="1100" dirty="0"/>
          </a:p>
        </p:txBody>
      </p:sp>
      <p:sp>
        <p:nvSpPr>
          <p:cNvPr id="29" name="Evidence row"/>
          <p:cNvSpPr/>
          <p:nvPr/>
        </p:nvSpPr>
        <p:spPr>
          <a:xfrm>
            <a:off x="457200" y="3931920"/>
            <a:ext cx="4663440" cy="475488"/>
          </a:xfrm>
          <a:prstGeom prst="roundRect">
            <a:avLst>
              <a:gd name="adj" fmla="val 15385"/>
            </a:avLst>
          </a:prstGeom>
          <a:solidFill>
            <a:srgbClr val="EEF3F5"/>
          </a:solidFill>
          <a:ln w="6350">
            <a:solidFill>
              <a:srgbClr val="EEF3F5"/>
            </a:solidFill>
            <a:prstDash val="solid"/>
          </a:ln>
        </p:spPr>
      </p:sp>
      <p:sp>
        <p:nvSpPr>
          <p:cNvPr id="30" name="Shape 28"/>
          <p:cNvSpPr/>
          <p:nvPr/>
        </p:nvSpPr>
        <p:spPr>
          <a:xfrm>
            <a:off x="566928" y="4050792"/>
            <a:ext cx="237744" cy="237744"/>
          </a:xfrm>
          <a:prstGeom prst="ellipse">
            <a:avLst/>
          </a:prstGeom>
          <a:solidFill>
            <a:srgbClr val="2E8B57"/>
          </a:solidFill>
          <a:ln w="12700">
            <a:solidFill>
              <a:srgbClr val="2E8B57"/>
            </a:solidFill>
            <a:prstDash val="solid"/>
          </a:ln>
        </p:spPr>
      </p:sp>
      <p:sp>
        <p:nvSpPr>
          <p:cNvPr id="31" name="Text 29"/>
          <p:cNvSpPr txBox="1"/>
          <p:nvPr/>
        </p:nvSpPr>
        <p:spPr>
          <a:xfrm>
            <a:off x="566928" y="40507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Text 30"/>
          <p:cNvSpPr txBox="1"/>
          <p:nvPr/>
        </p:nvSpPr>
        <p:spPr>
          <a:xfrm>
            <a:off x="914400" y="3931920"/>
            <a:ext cx="1600200" cy="475488"/>
          </a:xfrm>
          <a:prstGeom prst="rect">
            <a:avLst/>
          </a:prstGeom>
          <a:noFill/>
          <a:ln/>
        </p:spPr>
        <p:txBody>
          <a:bodyPr wrap="square" lIns="0" tIns="0" rIns="0" bIns="0" rtlCol="0" anchor="ctr"/>
          <a:lstStyle/>
          <a:p>
            <a:pPr indent="0" marL="0">
              <a:buNone/>
            </a:pPr>
            <a:r>
              <a:rPr lang="en-US" sz="1200" b="1" dirty="0">
                <a:solidFill>
                  <a:srgbClr val="12344D"/>
                </a:solidFill>
                <a:latin typeface="Calibri" pitchFamily="34" charset="0"/>
                <a:ea typeface="Calibri" pitchFamily="34" charset="-122"/>
                <a:cs typeface="Calibri" pitchFamily="34" charset="-120"/>
              </a:rPr>
              <a:t>Docker + CI on GitHub</a:t>
            </a:r>
            <a:endParaRPr lang="en-US" sz="1200" dirty="0"/>
          </a:p>
        </p:txBody>
      </p:sp>
      <p:sp>
        <p:nvSpPr>
          <p:cNvPr id="33" name="Text 31"/>
          <p:cNvSpPr txBox="1"/>
          <p:nvPr/>
        </p:nvSpPr>
        <p:spPr>
          <a:xfrm>
            <a:off x="2514600" y="3931920"/>
            <a:ext cx="2560320" cy="475488"/>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Run #4 (commit dfb67ea): test and docker jobs passed</a:t>
            </a:r>
            <a:endParaRPr lang="en-US" sz="1100" dirty="0"/>
          </a:p>
        </p:txBody>
      </p:sp>
      <p:sp>
        <p:nvSpPr>
          <p:cNvPr id="34" name="Repository card"/>
          <p:cNvSpPr/>
          <p:nvPr/>
        </p:nvSpPr>
        <p:spPr>
          <a:xfrm>
            <a:off x="5303520" y="1188720"/>
            <a:ext cx="3383280" cy="1143000"/>
          </a:xfrm>
          <a:prstGeom prst="roundRect">
            <a:avLst>
              <a:gd name="adj" fmla="val 6400"/>
            </a:avLst>
          </a:prstGeom>
          <a:solidFill>
            <a:srgbClr val="12344D"/>
          </a:solidFill>
          <a:ln w="6350">
            <a:solidFill>
              <a:srgbClr val="12344D"/>
            </a:solidFill>
            <a:prstDash val="solid"/>
          </a:ln>
        </p:spPr>
      </p:sp>
      <p:sp>
        <p:nvSpPr>
          <p:cNvPr id="35" name="Text 33"/>
          <p:cNvSpPr txBox="1"/>
          <p:nvPr/>
        </p:nvSpPr>
        <p:spPr>
          <a:xfrm>
            <a:off x="5440680" y="1243584"/>
            <a:ext cx="3108960" cy="274320"/>
          </a:xfrm>
          <a:prstGeom prst="rect">
            <a:avLst/>
          </a:prstGeom>
          <a:noFill/>
          <a:ln/>
        </p:spPr>
        <p:txBody>
          <a:bodyPr wrap="square" lIns="0" tIns="0" rIns="0" bIns="0" rtlCol="0" anchor="ctr"/>
          <a:lstStyle/>
          <a:p>
            <a:pPr indent="0" marL="0">
              <a:buNone/>
            </a:pPr>
            <a:r>
              <a:rPr lang="en-US" sz="1300" b="1" dirty="0">
                <a:solidFill>
                  <a:srgbClr val="F2A541"/>
                </a:solidFill>
                <a:latin typeface="Cambria" pitchFamily="34" charset="0"/>
                <a:ea typeface="Cambria" pitchFamily="34" charset="-122"/>
                <a:cs typeface="Cambria" pitchFamily="34" charset="-120"/>
              </a:rPr>
              <a:t>GitHub repository</a:t>
            </a:r>
            <a:endParaRPr lang="en-US" sz="1300" dirty="0"/>
          </a:p>
        </p:txBody>
      </p:sp>
      <p:sp>
        <p:nvSpPr>
          <p:cNvPr id="36" name="Repository link"/>
          <p:cNvSpPr txBox="1"/>
          <p:nvPr/>
        </p:nvSpPr>
        <p:spPr>
          <a:xfrm>
            <a:off x="5440680" y="1554480"/>
            <a:ext cx="3108960" cy="731520"/>
          </a:xfrm>
          <a:prstGeom prst="rect">
            <a:avLst/>
          </a:prstGeom>
          <a:noFill/>
          <a:ln/>
        </p:spPr>
        <p:txBody>
          <a:bodyPr wrap="square" lIns="0" tIns="0" rIns="0" bIns="0" rtlCol="0" anchor="t"/>
          <a:lstStyle/>
          <a:p>
            <a:pPr indent="0" marL="0">
              <a:buNone/>
            </a:pPr>
            <a:r>
              <a:rPr lang="en-US" sz="1100" u="sng" dirty="0">
                <a:solidFill>
                  <a:srgbClr val="8FD6D6"/>
                </a:solidFill>
                <a:uFill>
                  <a:solidFill>
                    <a:srgbClr val="8FD6D6"/>
                  </a:solidFill>
                </a:uFill>
                <a:latin typeface="Calibri" pitchFamily="34" charset="0"/>
                <a:ea typeface="Calibri" pitchFamily="34" charset="-122"/>
                <a:cs typeface="Calibri" pitchFamily="34" charset="-120"/>
                <a:hlinkClick r:id="rId1" invalidUrl="" action="" tgtFrame="" tooltip="Open the project repository on GitHub" history="1" highlightClick="0" endSnd="0">
                  <a:extLst>
                    <a:ext uri="{A12FA001-AC4F-418D-AE19-62706E023703}">
                      <ahyp:hlinkClr xmlns:ahyp="http://schemas.microsoft.com/office/drawing/2018/hyperlinkcolor" val="tx"/>
                    </a:ext>
                  </a:extLst>
                </a:hlinkClick>
              </a:rPr>
              <a:t>Open repository on GitHub (DrChitsungo)</a:t>
            </a:r>
            <a:endParaRPr lang="en-US" sz="1100" dirty="0"/>
          </a:p>
          <a:p>
            <a:pPr indent="0" marL="0">
              <a:buNone/>
            </a:pPr>
            <a:r>
              <a:rPr lang="en-US" sz="1000" dirty="0">
                <a:solidFill>
                  <a:srgbClr val="FFFFFF"/>
                </a:solidFill>
                <a:latin typeface="Calibri" pitchFamily="34" charset="0"/>
                <a:ea typeface="Calibri" pitchFamily="34" charset="-122"/>
                <a:cs typeface="Calibri" pitchFamily="34" charset="-120"/>
              </a:rPr>
              <a:t>Package pushed; CI run #4 green (test + docker jobs).</a:t>
            </a:r>
            <a:endParaRPr lang="en-US" sz="1100" dirty="0"/>
          </a:p>
        </p:txBody>
      </p:sp>
      <p:sp>
        <p:nvSpPr>
          <p:cNvPr id="37" name="Text 35"/>
          <p:cNvSpPr txBox="1"/>
          <p:nvPr/>
        </p:nvSpPr>
        <p:spPr>
          <a:xfrm>
            <a:off x="5303520" y="2468880"/>
            <a:ext cx="3383280" cy="274320"/>
          </a:xfrm>
          <a:prstGeom prst="rect">
            <a:avLst/>
          </a:prstGeom>
          <a:noFill/>
          <a:ln/>
        </p:spPr>
        <p:txBody>
          <a:bodyPr wrap="square" lIns="0" tIns="0" rIns="0" bIns="0" rtlCol="0" anchor="ctr"/>
          <a:lstStyle/>
          <a:p>
            <a:pPr indent="0" marL="0">
              <a:buNone/>
            </a:pPr>
            <a:r>
              <a:rPr lang="en-US" sz="1300" b="1" dirty="0">
                <a:solidFill>
                  <a:srgbClr val="12344D"/>
                </a:solidFill>
                <a:latin typeface="Cambria" pitchFamily="34" charset="0"/>
                <a:ea typeface="Cambria" pitchFamily="34" charset="-122"/>
                <a:cs typeface="Cambria" pitchFamily="34" charset="-120"/>
              </a:rPr>
              <a:t>Remaining limitations</a:t>
            </a:r>
            <a:endParaRPr lang="en-US" sz="1300" dirty="0"/>
          </a:p>
        </p:txBody>
      </p:sp>
      <p:sp>
        <p:nvSpPr>
          <p:cNvPr id="38" name="Text 36"/>
          <p:cNvSpPr txBox="1"/>
          <p:nvPr/>
        </p:nvSpPr>
        <p:spPr>
          <a:xfrm>
            <a:off x="5303520" y="2788920"/>
            <a:ext cx="338328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One static source; no cost or ERP/CRM data</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Bias is internal; no benchmark or demographics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Roles, retention, DPIA: proposals</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Source block boundary is inferred</a:t>
            </a:r>
            <a:endParaRPr lang="en-US" sz="1200" dirty="0"/>
          </a:p>
          <a:p>
            <a:pPr marL="342900" indent="-342900">
              <a:spcAft>
                <a:spcPts val="400"/>
              </a:spcAft>
              <a:buSzPct val="100000"/>
              <a:buChar char="•"/>
            </a:pPr>
            <a:r>
              <a:rPr lang="en-US" sz="1200" dirty="0">
                <a:solidFill>
                  <a:srgbClr val="1B2A38"/>
                </a:solidFill>
                <a:latin typeface="Calibri" pitchFamily="34" charset="0"/>
                <a:ea typeface="Calibri" pitchFamily="34" charset="-122"/>
                <a:cs typeface="Calibri" pitchFamily="34" charset="-120"/>
              </a:rPr>
              <a:t>No full-dataset run inside Docker yet</a:t>
            </a:r>
            <a:endParaRPr lang="en-US" sz="1200" dirty="0"/>
          </a:p>
        </p:txBody>
      </p:sp>
      <p:sp>
        <p:nvSpPr>
          <p:cNvPr id="39" name="Source"/>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Evidence: reports/evidence/ (pytest_results.txt, gate_failure_demo.json, reproducibility_check.json, fresh_venv_check.txt, ci_run_4.md)</a:t>
            </a:r>
            <a:endParaRPr lang="en-US" sz="1000" dirty="0"/>
          </a:p>
        </p:txBody>
      </p:sp>
      <p:sp>
        <p:nvSpPr>
          <p:cNvPr id="25" name="Slide Number Placeholder 0"/>
          <p:cNvSpPr>
            <a:spLocks noGrp="1"/>
          </p:cNvSpPr>
          <p:nvPr>
            <p:ph type="sldNum" sz="quarter" idx="4294967295"/>
          </p:nvPr>
        </p:nvSpPr>
        <p:spPr>
          <a:xfrm>
            <a:off x="832104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tailPipeline">
  <a:themeElements>
    <a:clrScheme name="RetailPipeline">
      <a:dk1>
        <a:srgbClr val="1B2A38"/>
      </a:dk1>
      <a:lt1>
        <a:srgbClr val="FFFFFF"/>
      </a:lt1>
      <a:dk2>
        <a:srgbClr val="12344D"/>
      </a:dk2>
      <a:lt2>
        <a:srgbClr val="EEF3F5"/>
      </a:lt2>
      <a:accent1>
        <a:srgbClr val="1C7C7D"/>
      </a:accent1>
      <a:accent2>
        <a:srgbClr val="F2A541"/>
      </a:accent2>
      <a:accent3>
        <a:srgbClr val="D95D39"/>
      </a:accent3>
      <a:accent4>
        <a:srgbClr val="2E8B57"/>
      </a:accent4>
      <a:accent5>
        <a:srgbClr val="6C7A89"/>
      </a:accent5>
      <a:accent6>
        <a:srgbClr val="8FB8DE"/>
      </a:accent6>
      <a:hlink>
        <a:srgbClr val="1C7C7D"/>
      </a:hlink>
      <a:folHlink>
        <a:srgbClr val="6C7A89"/>
      </a:folHlink>
    </a:clrScheme>
    <a:fontScheme name="Retail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Analytics Decision Support Platform - Module 3 pipeline</dc:title>
  <dc:subject>PptxGenJS Presentation</dc:subject>
  <dc:creator>Bezzel Chitsungo</dc:creator>
  <cp:lastModifiedBy>Bezzel Chitsungo</cp:lastModifiedBy>
  <cp:revision>1</cp:revision>
  <dcterms:created xsi:type="dcterms:W3CDTF">2026-10-26T17:36:43Z</dcterms:created>
  <dcterms:modified xsi:type="dcterms:W3CDTF">2026-10-26T17:36:43Z</dcterms:modified>
</cp:coreProperties>
</file>